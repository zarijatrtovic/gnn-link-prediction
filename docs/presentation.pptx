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100" spc="-1" strike="noStrike">
                <a:solidFill>
                  <a:srgbClr val="0a1628"/>
                </a:solidFill>
                <a:latin typeface="Arial"/>
              </a:defRPr>
            </a:pPr>
            <a:r>
              <a:rPr b="0" sz="1100" spc="-1" strike="noStrike">
                <a:solidFill>
                  <a:srgbClr val="0a1628"/>
                </a:solidFill>
                <a:latin typeface="Arial"/>
              </a:rPr>
              <a:t>AUC po modelu i skupu podataka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Cora AUC</c:v>
                </c:pt>
              </c:strCache>
            </c:strRef>
          </c:tx>
          <c:spPr>
            <a:solidFill>
              <a:srgbClr val="1c7293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900" spc="-1" strike="noStrik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GAE</c:v>
                </c:pt>
                <c:pt idx="1">
                  <c:v>VGAE</c:v>
                </c:pt>
                <c:pt idx="2">
                  <c:v>Com. Neighbors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0.8964</c:v>
                </c:pt>
                <c:pt idx="1">
                  <c:v>0.8894</c:v>
                </c:pt>
                <c:pt idx="2">
                  <c:v>0.693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CiteSeer AUC</c:v>
                </c:pt>
              </c:strCache>
            </c:strRef>
          </c:tx>
          <c:spPr>
            <a:solidFill>
              <a:srgbClr val="02c39a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900" spc="-1" strike="noStrik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GAE</c:v>
                </c:pt>
                <c:pt idx="1">
                  <c:v>VGAE</c:v>
                </c:pt>
                <c:pt idx="2">
                  <c:v>Com. Neighbors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0.8824</c:v>
                </c:pt>
                <c:pt idx="1">
                  <c:v>0.8986</c:v>
                </c:pt>
                <c:pt idx="2">
                  <c:v>0.6714</c:v>
                </c:pt>
              </c:numCache>
            </c:numRef>
          </c:val>
        </c:ser>
        <c:gapWidth val="150"/>
        <c:overlap val="0"/>
        <c:axId val="63204014"/>
        <c:axId val="3612331"/>
      </c:barChart>
      <c:catAx>
        <c:axId val="6320401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64748b"/>
                </a:solidFill>
                <a:latin typeface="Arial"/>
              </a:defRPr>
            </a:pPr>
          </a:p>
        </c:txPr>
        <c:crossAx val="3612331"/>
        <c:crosses val="autoZero"/>
        <c:auto val="1"/>
        <c:lblAlgn val="ctr"/>
        <c:lblOffset val="100"/>
        <c:noMultiLvlLbl val="0"/>
      </c:catAx>
      <c:valAx>
        <c:axId val="3612331"/>
        <c:scaling>
          <c:orientation val="minMax"/>
          <c:max val="1"/>
          <c:min val="0.5"/>
        </c:scaling>
        <c:delete val="0"/>
        <c:axPos val="l"/>
        <c:majorGridlines>
          <c:spPr>
            <a:ln w="6480">
              <a:solidFill>
                <a:srgbClr val="e2e8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64748b"/>
                </a:solidFill>
                <a:latin typeface="Arial"/>
              </a:defRPr>
            </a:pPr>
          </a:p>
        </c:txPr>
        <c:crossAx val="63204014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fffff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0a1628"/>
                </a:solidFill>
                <a:latin typeface="Arial"/>
              </a:defRPr>
            </a:pPr>
            <a:r>
              <a:rPr b="0" sz="1200" spc="-1" strike="noStrike">
                <a:solidFill>
                  <a:srgbClr val="0a1628"/>
                </a:solidFill>
                <a:latin typeface="Arial"/>
              </a:rPr>
              <a:t>GAE hiperparametri (Cora)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1c7293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900" spc="-1" strike="noStrik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h=128,o=64
lr=0.01</c:v>
                </c:pt>
                <c:pt idx="1">
                  <c:v>h=64,o=32
lr=0.01</c:v>
                </c:pt>
                <c:pt idx="2">
                  <c:v>h=32,o=16
lr=0.01</c:v>
                </c:pt>
                <c:pt idx="3">
                  <c:v>h=64,o=32
lr=0.001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0.92</c:v>
                </c:pt>
                <c:pt idx="1">
                  <c:v>0.9132</c:v>
                </c:pt>
                <c:pt idx="2">
                  <c:v>0.906</c:v>
                </c:pt>
                <c:pt idx="3">
                  <c:v>0.8466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AP</c:v>
                </c:pt>
              </c:strCache>
            </c:strRef>
          </c:tx>
          <c:spPr>
            <a:solidFill>
              <a:srgbClr val="65b8d0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900" spc="-1" strike="noStrik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h=128,o=64
lr=0.01</c:v>
                </c:pt>
                <c:pt idx="1">
                  <c:v>h=64,o=32
lr=0.01</c:v>
                </c:pt>
                <c:pt idx="2">
                  <c:v>h=32,o=16
lr=0.01</c:v>
                </c:pt>
                <c:pt idx="3">
                  <c:v>h=64,o=32
lr=0.001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0.9296</c:v>
                </c:pt>
                <c:pt idx="1">
                  <c:v>0.9166</c:v>
                </c:pt>
                <c:pt idx="2">
                  <c:v>0.9113</c:v>
                </c:pt>
                <c:pt idx="3">
                  <c:v>0.8423</c:v>
                </c:pt>
              </c:numCache>
            </c:numRef>
          </c:val>
        </c:ser>
        <c:gapWidth val="150"/>
        <c:overlap val="0"/>
        <c:axId val="44667607"/>
        <c:axId val="27435660"/>
      </c:barChart>
      <c:catAx>
        <c:axId val="44667607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64748b"/>
                </a:solidFill>
                <a:latin typeface="Arial"/>
              </a:defRPr>
            </a:pPr>
          </a:p>
        </c:txPr>
        <c:crossAx val="27435660"/>
        <c:crosses val="autoZero"/>
        <c:auto val="1"/>
        <c:lblAlgn val="ctr"/>
        <c:lblOffset val="100"/>
        <c:noMultiLvlLbl val="0"/>
      </c:catAx>
      <c:valAx>
        <c:axId val="27435660"/>
        <c:scaling>
          <c:orientation val="minMax"/>
          <c:max val="0.95"/>
          <c:min val="0.8"/>
        </c:scaling>
        <c:delete val="0"/>
        <c:axPos val="l"/>
        <c:majorGridlines>
          <c:spPr>
            <a:ln w="6480">
              <a:solidFill>
                <a:srgbClr val="e2e8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64748b"/>
                </a:solidFill>
                <a:latin typeface="Arial"/>
              </a:defRPr>
            </a:pPr>
          </a:p>
        </c:txPr>
        <c:crossAx val="44667607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fffff"/>
    </a:solidFill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200" spc="-1" strike="noStrike">
                <a:solidFill>
                  <a:srgbClr val="0a1628"/>
                </a:solidFill>
                <a:latin typeface="Arial"/>
              </a:defRPr>
            </a:pPr>
            <a:r>
              <a:rPr b="0" sz="1200" spc="-1" strike="noStrike">
                <a:solidFill>
                  <a:srgbClr val="0a1628"/>
                </a:solidFill>
                <a:latin typeface="Arial"/>
              </a:rPr>
              <a:t>VGAE hiperparametri (Cora)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28090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900" spc="-1" strike="noStrik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h=128,o=64
lr=0.01</c:v>
                </c:pt>
                <c:pt idx="1">
                  <c:v>h=64,o=32
lr=0.01</c:v>
                </c:pt>
                <c:pt idx="2">
                  <c:v>h=32,o=16
lr=0.01</c:v>
                </c:pt>
                <c:pt idx="3">
                  <c:v>h=64,o=32
lr=0.001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0.9133</c:v>
                </c:pt>
                <c:pt idx="1">
                  <c:v>0.8895</c:v>
                </c:pt>
                <c:pt idx="2">
                  <c:v>0.8559</c:v>
                </c:pt>
                <c:pt idx="3">
                  <c:v>0.6572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AP</c:v>
                </c:pt>
              </c:strCache>
            </c:strRef>
          </c:tx>
          <c:spPr>
            <a:solidFill>
              <a:srgbClr val="5eead4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b="0" sz="900" spc="-1" strike="noStrik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h=128,o=64
lr=0.01</c:v>
                </c:pt>
                <c:pt idx="1">
                  <c:v>h=64,o=32
lr=0.01</c:v>
                </c:pt>
                <c:pt idx="2">
                  <c:v>h=32,o=16
lr=0.01</c:v>
                </c:pt>
                <c:pt idx="3">
                  <c:v>h=64,o=32
lr=0.001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0.924</c:v>
                </c:pt>
                <c:pt idx="1">
                  <c:v>0.8941</c:v>
                </c:pt>
                <c:pt idx="2">
                  <c:v>0.8561</c:v>
                </c:pt>
                <c:pt idx="3">
                  <c:v>0.702</c:v>
                </c:pt>
              </c:numCache>
            </c:numRef>
          </c:val>
        </c:ser>
        <c:gapWidth val="150"/>
        <c:overlap val="0"/>
        <c:axId val="54931066"/>
        <c:axId val="84113433"/>
      </c:barChart>
      <c:catAx>
        <c:axId val="5493106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64748b"/>
                </a:solidFill>
                <a:latin typeface="Arial"/>
              </a:defRPr>
            </a:pPr>
          </a:p>
        </c:txPr>
        <c:crossAx val="84113433"/>
        <c:crosses val="autoZero"/>
        <c:auto val="1"/>
        <c:lblAlgn val="ctr"/>
        <c:lblOffset val="100"/>
        <c:noMultiLvlLbl val="0"/>
      </c:catAx>
      <c:valAx>
        <c:axId val="84113433"/>
        <c:scaling>
          <c:orientation val="minMax"/>
          <c:max val="0.95"/>
          <c:min val="0.6"/>
        </c:scaling>
        <c:delete val="0"/>
        <c:axPos val="l"/>
        <c:majorGridlines>
          <c:spPr>
            <a:ln w="6480">
              <a:solidFill>
                <a:srgbClr val="e2e8f0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b="0" sz="1200" spc="-1" strike="noStrike">
                <a:solidFill>
                  <a:srgbClr val="64748b"/>
                </a:solidFill>
                <a:latin typeface="Arial"/>
              </a:defRPr>
            </a:pPr>
          </a:p>
        </c:txPr>
        <c:crossAx val="5493106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</a:defRPr>
          </a:pPr>
        </a:p>
      </c:txPr>
    </c:legend>
    <c:plotVisOnly val="1"/>
    <c:dispBlanksAs val="span"/>
  </c:chart>
  <c:spPr>
    <a:solidFill>
      <a:srgbClr val="ffffff"/>
    </a:solidFill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move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to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edit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note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form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56C7CEF-E4BE-47E4-851A-BCC05B653E8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452F38-955E-4FBA-B382-70C0E7145BF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CBB222-1AA9-4151-8297-F58DCBF1CF0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6D4D6C-3B3F-4A8E-A7AB-99015AFB2B4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326D200-AB0E-4E02-A7F9-6124F38D113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DEBA8D2-1A13-43A9-AEE6-87820AF695C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A170CE-D3DB-45C9-A7E6-9E6A48449E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173BA7-D11D-498E-BFFE-8D0E67BEFA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B22B924-427A-4F35-B010-F35744DC3F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6858000" y="-1371600"/>
            <a:ext cx="4571640" cy="4571640"/>
          </a:xfrm>
          <a:prstGeom prst="ellipse">
            <a:avLst/>
          </a:prstGeom>
          <a:solidFill>
            <a:srgbClr val="1c7293">
              <a:alpha val="25000"/>
            </a:srgbClr>
          </a:solidFill>
          <a:ln w="12700">
            <a:solidFill>
              <a:srgbClr val="1c7293">
                <a:alpha val="2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-914400" y="3200400"/>
            <a:ext cx="3200040" cy="320004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>
                <a:alpha val="2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914400" y="1645920"/>
            <a:ext cx="63720" cy="1462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1097280" y="1371600"/>
            <a:ext cx="68576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  <a:ea typeface="Calibri"/>
              </a:rPr>
              <a:t>Graph Neural Network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Calibri"/>
                <a:ea typeface="Calibri"/>
              </a:rPr>
              <a:t>For Link Prediction</a:t>
            </a:r>
            <a:endParaRPr b="0" lang="en-US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1097280" y="3154680"/>
            <a:ext cx="7131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02c39a"/>
                </a:solidFill>
                <a:latin typeface="Calibri"/>
                <a:ea typeface="Calibri"/>
              </a:rPr>
              <a:t>Graph Autoencoder (GAE) · Variational Graph Autoencoder (VGAE) · Common Neighbors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1097280" y="3657600"/>
            <a:ext cx="5486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aecfd8"/>
                </a:solidFill>
                <a:latin typeface="Calibri"/>
                <a:ea typeface="Calibri"/>
              </a:rPr>
              <a:t>Bogdan Delić 36/2020  ·  Zarija Trtović 39/2020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1097280" y="402336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6b8fa3"/>
                </a:solidFill>
                <a:latin typeface="Calibri"/>
                <a:ea typeface="Calibri"/>
              </a:rPr>
              <a:t>Računarska inteligencija  ·  Matematički fakultet, Beograd  ·  2026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8046720" y="914400"/>
            <a:ext cx="200880" cy="20088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8595360" y="1463040"/>
            <a:ext cx="200880" cy="20088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7772400" y="2103120"/>
            <a:ext cx="200880" cy="20088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8412480" y="2560320"/>
            <a:ext cx="200880" cy="20088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7315200" y="2926080"/>
            <a:ext cx="200880" cy="20088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8778240" y="3108960"/>
            <a:ext cx="200880" cy="20088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>
                <a:alpha val="8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8147160" y="1014840"/>
            <a:ext cx="548640" cy="548640"/>
          </a:xfrm>
          <a:prstGeom prst="line">
            <a:avLst/>
          </a:prstGeom>
          <a:ln w="12700">
            <a:solidFill>
              <a:srgbClr val="02c39a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 flipH="1">
            <a:off x="7872840" y="1014840"/>
            <a:ext cx="274320" cy="1188720"/>
          </a:xfrm>
          <a:prstGeom prst="line">
            <a:avLst/>
          </a:prstGeom>
          <a:ln w="12700">
            <a:solidFill>
              <a:srgbClr val="02c39a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 flipH="1">
            <a:off x="8512920" y="1563480"/>
            <a:ext cx="182880" cy="1097280"/>
          </a:xfrm>
          <a:prstGeom prst="line">
            <a:avLst/>
          </a:prstGeom>
          <a:ln w="12700">
            <a:solidFill>
              <a:srgbClr val="02c39a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7872840" y="2203560"/>
            <a:ext cx="640080" cy="457200"/>
          </a:xfrm>
          <a:prstGeom prst="line">
            <a:avLst/>
          </a:prstGeom>
          <a:ln w="12700">
            <a:solidFill>
              <a:srgbClr val="02c39a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 flipH="1">
            <a:off x="7415640" y="2203560"/>
            <a:ext cx="457200" cy="822960"/>
          </a:xfrm>
          <a:prstGeom prst="line">
            <a:avLst/>
          </a:prstGeom>
          <a:ln w="12700">
            <a:solidFill>
              <a:srgbClr val="02c39a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8512920" y="2660760"/>
            <a:ext cx="365760" cy="548640"/>
          </a:xfrm>
          <a:prstGeom prst="line">
            <a:avLst/>
          </a:prstGeom>
          <a:ln w="12700">
            <a:solidFill>
              <a:srgbClr val="02c39a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365760" y="0"/>
            <a:ext cx="7314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Uvod i teorijska osnova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7498080" y="0"/>
            <a:ext cx="1462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Glave 1 &amp; 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Shape 3"/>
          <p:cNvSpPr/>
          <p:nvPr/>
        </p:nvSpPr>
        <p:spPr>
          <a:xfrm>
            <a:off x="228600" y="777240"/>
            <a:ext cx="2651400" cy="329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Shape 4"/>
          <p:cNvSpPr/>
          <p:nvPr/>
        </p:nvSpPr>
        <p:spPr>
          <a:xfrm>
            <a:off x="228600" y="777240"/>
            <a:ext cx="2651400" cy="63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365760" y="91440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1628"/>
                </a:solidFill>
                <a:latin typeface="Calibri"/>
                <a:ea typeface="Calibri"/>
              </a:rPr>
              <a:t>🔗  </a:t>
            </a:r>
            <a:r>
              <a:rPr b="1" lang="en-US" sz="1400" spc="-1" strike="noStrike">
                <a:solidFill>
                  <a:srgbClr val="0a1628"/>
                </a:solidFill>
                <a:latin typeface="Calibri"/>
                <a:ea typeface="Calibri"/>
              </a:rPr>
              <a:t>Problem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6"/>
          <p:cNvSpPr/>
          <p:nvPr/>
        </p:nvSpPr>
        <p:spPr>
          <a:xfrm>
            <a:off x="365760" y="1463040"/>
            <a:ext cx="23770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Predviđanje veza koje postoje ali nisu zabeležene, ili će se pojaviti u budućnosti.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Formalno: G = (V, E) → ocena P(grane u,v) za parove koji nisu u E.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3063240" y="777240"/>
            <a:ext cx="2651400" cy="329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3063240" y="777240"/>
            <a:ext cx="2651400" cy="63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3200400" y="91440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1628"/>
                </a:solidFill>
                <a:latin typeface="Calibri"/>
                <a:ea typeface="Calibri"/>
              </a:rPr>
              <a:t>⚙️  </a:t>
            </a:r>
            <a:r>
              <a:rPr b="1" lang="en-US" sz="1400" spc="-1" strike="noStrike">
                <a:solidFill>
                  <a:srgbClr val="0a1628"/>
                </a:solidFill>
                <a:latin typeface="Calibri"/>
                <a:ea typeface="Calibri"/>
              </a:rPr>
              <a:t>Metode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3200400" y="1463040"/>
            <a:ext cx="23770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GAE — Graph Autoencoder (GCN enkoder + unutrašnji proizvod dekoder).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VGAE — Variational GAE, probabilistički okvir (VAE + KL regularizacija).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Common Neighbors — heuristički baseline (|N(u)∩N(v)|).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5897880" y="777240"/>
            <a:ext cx="2651400" cy="329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12"/>
          <p:cNvSpPr/>
          <p:nvPr/>
        </p:nvSpPr>
        <p:spPr>
          <a:xfrm>
            <a:off x="5897880" y="777240"/>
            <a:ext cx="2651400" cy="63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6035040" y="914400"/>
            <a:ext cx="2377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1628"/>
                </a:solidFill>
                <a:latin typeface="Calibri"/>
                <a:ea typeface="Calibri"/>
              </a:rPr>
              <a:t>🌐  </a:t>
            </a:r>
            <a:r>
              <a:rPr b="1" lang="en-US" sz="1400" spc="-1" strike="noStrike">
                <a:solidFill>
                  <a:srgbClr val="0a1628"/>
                </a:solidFill>
                <a:latin typeface="Calibri"/>
                <a:ea typeface="Calibri"/>
              </a:rPr>
              <a:t>Primene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6035040" y="1463040"/>
            <a:ext cx="23770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Preporuka prijatelja (LinkedIn, Facebook).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Interakcije protein–lek u bioinformatici.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1e293b"/>
              </a:buClr>
              <a:buFont typeface="Symbol" charset="2"/>
              <a:buChar char=""/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Otkrivanje prevara u finansijskim mrežama.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228600" y="4206240"/>
            <a:ext cx="8686440" cy="68544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1"/>
          <p:cNvSpPr/>
          <p:nvPr/>
        </p:nvSpPr>
        <p:spPr>
          <a:xfrm>
            <a:off x="365760" y="0"/>
            <a:ext cx="7314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Skupovi podataka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2"/>
          <p:cNvSpPr/>
          <p:nvPr/>
        </p:nvSpPr>
        <p:spPr>
          <a:xfrm>
            <a:off x="7772400" y="0"/>
            <a:ext cx="1188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Glava 3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Shape 3"/>
          <p:cNvSpPr/>
          <p:nvPr/>
        </p:nvSpPr>
        <p:spPr>
          <a:xfrm>
            <a:off x="274320" y="777240"/>
            <a:ext cx="4114440" cy="3108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4"/>
          <p:cNvSpPr/>
          <p:nvPr/>
        </p:nvSpPr>
        <p:spPr>
          <a:xfrm>
            <a:off x="274320" y="777240"/>
            <a:ext cx="4114440" cy="5666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5"/>
          <p:cNvSpPr/>
          <p:nvPr/>
        </p:nvSpPr>
        <p:spPr>
          <a:xfrm>
            <a:off x="411480" y="82296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Cora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6"/>
          <p:cNvSpPr/>
          <p:nvPr/>
        </p:nvSpPr>
        <p:spPr>
          <a:xfrm>
            <a:off x="411480" y="109728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cadcfc"/>
                </a:solidFill>
                <a:latin typeface="Calibri"/>
                <a:ea typeface="Calibri"/>
              </a:rPr>
              <a:t>Mreža mašinskog učenja — 7 klasa tema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7"/>
          <p:cNvSpPr/>
          <p:nvPr/>
        </p:nvSpPr>
        <p:spPr>
          <a:xfrm>
            <a:off x="365760" y="1435680"/>
            <a:ext cx="3931560" cy="4384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Text 8"/>
          <p:cNvSpPr/>
          <p:nvPr/>
        </p:nvSpPr>
        <p:spPr>
          <a:xfrm>
            <a:off x="457200" y="148140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Čvorovi (radovi)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9"/>
          <p:cNvSpPr/>
          <p:nvPr/>
        </p:nvSpPr>
        <p:spPr>
          <a:xfrm>
            <a:off x="2834640" y="148140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2 708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10"/>
          <p:cNvSpPr/>
          <p:nvPr/>
        </p:nvSpPr>
        <p:spPr>
          <a:xfrm>
            <a:off x="365760" y="1911240"/>
            <a:ext cx="3931560" cy="4384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1"/>
          <p:cNvSpPr/>
          <p:nvPr/>
        </p:nvSpPr>
        <p:spPr>
          <a:xfrm>
            <a:off x="457200" y="195696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Grane (citati)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12"/>
          <p:cNvSpPr/>
          <p:nvPr/>
        </p:nvSpPr>
        <p:spPr>
          <a:xfrm>
            <a:off x="2834640" y="19569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10 556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3"/>
          <p:cNvSpPr/>
          <p:nvPr/>
        </p:nvSpPr>
        <p:spPr>
          <a:xfrm>
            <a:off x="365760" y="2386440"/>
            <a:ext cx="3931560" cy="4384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14"/>
          <p:cNvSpPr/>
          <p:nvPr/>
        </p:nvSpPr>
        <p:spPr>
          <a:xfrm>
            <a:off x="457200" y="243216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Feature vektor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5"/>
          <p:cNvSpPr/>
          <p:nvPr/>
        </p:nvSpPr>
        <p:spPr>
          <a:xfrm>
            <a:off x="2834640" y="24321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1 433 dim.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16"/>
          <p:cNvSpPr/>
          <p:nvPr/>
        </p:nvSpPr>
        <p:spPr>
          <a:xfrm>
            <a:off x="365760" y="2862000"/>
            <a:ext cx="3931560" cy="4384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7"/>
          <p:cNvSpPr/>
          <p:nvPr/>
        </p:nvSpPr>
        <p:spPr>
          <a:xfrm>
            <a:off x="457200" y="290772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Prosečan stepen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8"/>
          <p:cNvSpPr/>
          <p:nvPr/>
        </p:nvSpPr>
        <p:spPr>
          <a:xfrm>
            <a:off x="2834640" y="290772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3.90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19"/>
          <p:cNvSpPr/>
          <p:nvPr/>
        </p:nvSpPr>
        <p:spPr>
          <a:xfrm>
            <a:off x="365760" y="3337560"/>
            <a:ext cx="3931560" cy="4384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20"/>
          <p:cNvSpPr/>
          <p:nvPr/>
        </p:nvSpPr>
        <p:spPr>
          <a:xfrm>
            <a:off x="457200" y="338328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Trening / Val / Test grane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21"/>
          <p:cNvSpPr/>
          <p:nvPr/>
        </p:nvSpPr>
        <p:spPr>
          <a:xfrm>
            <a:off x="2834640" y="338328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8 976 / 263 / 527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22"/>
          <p:cNvSpPr/>
          <p:nvPr/>
        </p:nvSpPr>
        <p:spPr>
          <a:xfrm>
            <a:off x="4754880" y="777240"/>
            <a:ext cx="4114440" cy="3108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23"/>
          <p:cNvSpPr/>
          <p:nvPr/>
        </p:nvSpPr>
        <p:spPr>
          <a:xfrm>
            <a:off x="4754880" y="777240"/>
            <a:ext cx="4114440" cy="566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Text 24"/>
          <p:cNvSpPr/>
          <p:nvPr/>
        </p:nvSpPr>
        <p:spPr>
          <a:xfrm>
            <a:off x="4892040" y="82296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CiteSeer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 25"/>
          <p:cNvSpPr/>
          <p:nvPr/>
        </p:nvSpPr>
        <p:spPr>
          <a:xfrm>
            <a:off x="4892040" y="1097280"/>
            <a:ext cx="38401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cadcfc"/>
                </a:solidFill>
                <a:latin typeface="Calibri"/>
                <a:ea typeface="Calibri"/>
              </a:rPr>
              <a:t>Mreža računarskih nauka — 6 klasa tema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26"/>
          <p:cNvSpPr/>
          <p:nvPr/>
        </p:nvSpPr>
        <p:spPr>
          <a:xfrm>
            <a:off x="4846320" y="1435680"/>
            <a:ext cx="3931560" cy="4384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7"/>
          <p:cNvSpPr/>
          <p:nvPr/>
        </p:nvSpPr>
        <p:spPr>
          <a:xfrm>
            <a:off x="4937760" y="148140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Čvorovi (radovi)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28"/>
          <p:cNvSpPr/>
          <p:nvPr/>
        </p:nvSpPr>
        <p:spPr>
          <a:xfrm>
            <a:off x="7315200" y="148140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3 327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29"/>
          <p:cNvSpPr/>
          <p:nvPr/>
        </p:nvSpPr>
        <p:spPr>
          <a:xfrm>
            <a:off x="4846320" y="1911240"/>
            <a:ext cx="3931560" cy="4384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30"/>
          <p:cNvSpPr/>
          <p:nvPr/>
        </p:nvSpPr>
        <p:spPr>
          <a:xfrm>
            <a:off x="4937760" y="195696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Grane (citati)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31"/>
          <p:cNvSpPr/>
          <p:nvPr/>
        </p:nvSpPr>
        <p:spPr>
          <a:xfrm>
            <a:off x="7315200" y="19569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9 104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32"/>
          <p:cNvSpPr/>
          <p:nvPr/>
        </p:nvSpPr>
        <p:spPr>
          <a:xfrm>
            <a:off x="4846320" y="2386440"/>
            <a:ext cx="3931560" cy="4384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33"/>
          <p:cNvSpPr/>
          <p:nvPr/>
        </p:nvSpPr>
        <p:spPr>
          <a:xfrm>
            <a:off x="4937760" y="243216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Feature vektor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34"/>
          <p:cNvSpPr/>
          <p:nvPr/>
        </p:nvSpPr>
        <p:spPr>
          <a:xfrm>
            <a:off x="7315200" y="243216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3 703 dim.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35"/>
          <p:cNvSpPr/>
          <p:nvPr/>
        </p:nvSpPr>
        <p:spPr>
          <a:xfrm>
            <a:off x="4846320" y="2862000"/>
            <a:ext cx="3931560" cy="4384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36"/>
          <p:cNvSpPr/>
          <p:nvPr/>
        </p:nvSpPr>
        <p:spPr>
          <a:xfrm>
            <a:off x="4937760" y="290772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Prosečan stepen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37"/>
          <p:cNvSpPr/>
          <p:nvPr/>
        </p:nvSpPr>
        <p:spPr>
          <a:xfrm>
            <a:off x="7315200" y="290772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2.74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38"/>
          <p:cNvSpPr/>
          <p:nvPr/>
        </p:nvSpPr>
        <p:spPr>
          <a:xfrm>
            <a:off x="4846320" y="3337560"/>
            <a:ext cx="3931560" cy="4384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39"/>
          <p:cNvSpPr/>
          <p:nvPr/>
        </p:nvSpPr>
        <p:spPr>
          <a:xfrm>
            <a:off x="4937760" y="3383280"/>
            <a:ext cx="23770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Trening / Val / Test grane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40"/>
          <p:cNvSpPr/>
          <p:nvPr/>
        </p:nvSpPr>
        <p:spPr>
          <a:xfrm>
            <a:off x="7315200" y="3383280"/>
            <a:ext cx="1371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a1628"/>
                </a:solidFill>
                <a:latin typeface="Calibri"/>
                <a:ea typeface="Calibri"/>
              </a:rPr>
              <a:t>7 740 / 227 / 455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41"/>
          <p:cNvSpPr/>
          <p:nvPr/>
        </p:nvSpPr>
        <p:spPr>
          <a:xfrm>
            <a:off x="274320" y="4005000"/>
            <a:ext cx="8595000" cy="82260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42"/>
          <p:cNvSpPr/>
          <p:nvPr/>
        </p:nvSpPr>
        <p:spPr>
          <a:xfrm>
            <a:off x="457200" y="400500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065a82"/>
                </a:solidFill>
                <a:latin typeface="Calibri"/>
                <a:ea typeface="Calibri"/>
              </a:rPr>
              <a:t>Predobrada: </a:t>
            </a: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NormalizeFeatures (L1 normalizacija feature vektora)  ·  Podela grana: 85% trening / 5% validacija / 10% test  ·  Balansiran evaluacioni skup: jednak broj pozitivnih i negativnih primera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365760" y="0"/>
            <a:ext cx="73148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Implementacija modela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"/>
          <p:cNvSpPr/>
          <p:nvPr/>
        </p:nvSpPr>
        <p:spPr>
          <a:xfrm>
            <a:off x="7772400" y="0"/>
            <a:ext cx="1188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Glava 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228600" y="777240"/>
            <a:ext cx="4114440" cy="2102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228600" y="777240"/>
            <a:ext cx="4114440" cy="63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5"/>
          <p:cNvSpPr/>
          <p:nvPr/>
        </p:nvSpPr>
        <p:spPr>
          <a:xfrm>
            <a:off x="365760" y="84132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7293"/>
                </a:solidFill>
                <a:latin typeface="Calibri"/>
                <a:ea typeface="Calibri"/>
              </a:rPr>
              <a:t>GAE — Graph Autoencoder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6"/>
          <p:cNvSpPr/>
          <p:nvPr/>
        </p:nvSpPr>
        <p:spPr>
          <a:xfrm>
            <a:off x="365760" y="1234440"/>
            <a:ext cx="3748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65a82"/>
                </a:solidFill>
                <a:latin typeface="Consolas"/>
                <a:ea typeface="Consolas"/>
              </a:rPr>
              <a:t>GCNConv(1433→64) → ReLU → GCNConv(64→32) → Dekoder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7"/>
          <p:cNvSpPr/>
          <p:nvPr/>
        </p:nvSpPr>
        <p:spPr>
          <a:xfrm>
            <a:off x="365760" y="1572840"/>
            <a:ext cx="37486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Dekoder: score(i,j) = zᵢᵀ · zⱼ  (unutrašnji proizvod)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Gubitak: BCEWithLogitsLoss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Trening: 200 epoha, Adam lr=0.01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8"/>
          <p:cNvSpPr/>
          <p:nvPr/>
        </p:nvSpPr>
        <p:spPr>
          <a:xfrm>
            <a:off x="4800600" y="777240"/>
            <a:ext cx="4114440" cy="2102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9"/>
          <p:cNvSpPr/>
          <p:nvPr/>
        </p:nvSpPr>
        <p:spPr>
          <a:xfrm>
            <a:off x="4800600" y="777240"/>
            <a:ext cx="4114440" cy="63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0"/>
          <p:cNvSpPr/>
          <p:nvPr/>
        </p:nvSpPr>
        <p:spPr>
          <a:xfrm>
            <a:off x="4937760" y="841320"/>
            <a:ext cx="384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28090"/>
                </a:solidFill>
                <a:latin typeface="Calibri"/>
                <a:ea typeface="Calibri"/>
              </a:rPr>
              <a:t>VGAE — Variational Graph Autoencoder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1"/>
          <p:cNvSpPr/>
          <p:nvPr/>
        </p:nvSpPr>
        <p:spPr>
          <a:xfrm>
            <a:off x="4937760" y="1234440"/>
            <a:ext cx="37486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065a82"/>
                </a:solidFill>
                <a:latin typeface="Consolas"/>
                <a:ea typeface="Consolas"/>
              </a:rPr>
              <a:t>GCNConv(1433→64) → [conv_μ(64,32) ‖ conv_logσ(64,32)]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12"/>
          <p:cNvSpPr/>
          <p:nvPr/>
        </p:nvSpPr>
        <p:spPr>
          <a:xfrm>
            <a:off x="4937760" y="1572840"/>
            <a:ext cx="374868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Reparametrizacijski trik: z = μ + ε · exp(logσ)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Gubitak: L = L_BCE + 0.005 · D_KL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• </a:t>
            </a: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Trening: 300 epoha, Adam lr=0.01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3"/>
          <p:cNvSpPr/>
          <p:nvPr/>
        </p:nvSpPr>
        <p:spPr>
          <a:xfrm>
            <a:off x="228600" y="2999160"/>
            <a:ext cx="2102760" cy="95976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14"/>
          <p:cNvSpPr/>
          <p:nvPr/>
        </p:nvSpPr>
        <p:spPr>
          <a:xfrm>
            <a:off x="320040" y="303588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c7293"/>
                </a:solidFill>
                <a:latin typeface="Calibri"/>
                <a:ea typeface="Calibri"/>
              </a:rPr>
              <a:t>Optimizator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320040" y="3291840"/>
            <a:ext cx="191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Adam (lr = 0.01)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6"/>
          <p:cNvSpPr/>
          <p:nvPr/>
        </p:nvSpPr>
        <p:spPr>
          <a:xfrm>
            <a:off x="2468880" y="2999160"/>
            <a:ext cx="2102760" cy="95976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17"/>
          <p:cNvSpPr/>
          <p:nvPr/>
        </p:nvSpPr>
        <p:spPr>
          <a:xfrm>
            <a:off x="2560320" y="303588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c7293"/>
                </a:solidFill>
                <a:latin typeface="Calibri"/>
                <a:ea typeface="Calibri"/>
              </a:rPr>
              <a:t>Early stopping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18"/>
          <p:cNvSpPr/>
          <p:nvPr/>
        </p:nvSpPr>
        <p:spPr>
          <a:xfrm>
            <a:off x="2560320" y="3291840"/>
            <a:ext cx="191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Sačuvan model sa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najboljim val. AUC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19"/>
          <p:cNvSpPr/>
          <p:nvPr/>
        </p:nvSpPr>
        <p:spPr>
          <a:xfrm>
            <a:off x="4709160" y="2999160"/>
            <a:ext cx="2102760" cy="95976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20"/>
          <p:cNvSpPr/>
          <p:nvPr/>
        </p:nvSpPr>
        <p:spPr>
          <a:xfrm>
            <a:off x="4800600" y="303588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c7293"/>
                </a:solidFill>
                <a:latin typeface="Calibri"/>
                <a:ea typeface="Calibri"/>
              </a:rPr>
              <a:t>Neg. uzorkovanje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1"/>
          <p:cNvSpPr/>
          <p:nvPr/>
        </p:nvSpPr>
        <p:spPr>
          <a:xfrm>
            <a:off x="4800600" y="3291840"/>
            <a:ext cx="191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1:1 pozitivnih i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negativnih primera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22"/>
          <p:cNvSpPr/>
          <p:nvPr/>
        </p:nvSpPr>
        <p:spPr>
          <a:xfrm>
            <a:off x="6949440" y="2999160"/>
            <a:ext cx="2102760" cy="95976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23"/>
          <p:cNvSpPr/>
          <p:nvPr/>
        </p:nvSpPr>
        <p:spPr>
          <a:xfrm>
            <a:off x="7040880" y="3035880"/>
            <a:ext cx="19198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1c7293"/>
                </a:solidFill>
                <a:latin typeface="Calibri"/>
                <a:ea typeface="Calibri"/>
              </a:rPr>
              <a:t>Aktivaciona funkcija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24"/>
          <p:cNvSpPr/>
          <p:nvPr/>
        </p:nvSpPr>
        <p:spPr>
          <a:xfrm>
            <a:off x="7040880" y="3291840"/>
            <a:ext cx="191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e293b"/>
                </a:solidFill>
                <a:latin typeface="Calibri"/>
                <a:ea typeface="Calibri"/>
              </a:rPr>
              <a:t>RELU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5"/>
          <p:cNvSpPr/>
          <p:nvPr/>
        </p:nvSpPr>
        <p:spPr>
          <a:xfrm>
            <a:off x="228600" y="4069080"/>
            <a:ext cx="8686440" cy="776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Text 26"/>
          <p:cNvSpPr/>
          <p:nvPr/>
        </p:nvSpPr>
        <p:spPr>
          <a:xfrm>
            <a:off x="411480" y="406908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2c39a"/>
                </a:solidFill>
                <a:latin typeface="Calibri"/>
                <a:ea typeface="Calibri"/>
              </a:rPr>
              <a:t>Evaluacione metrike:  </a:t>
            </a:r>
            <a:r>
              <a:rPr b="0" lang="en-US" sz="1200" spc="-1" strike="noStrike">
                <a:solidFill>
                  <a:srgbClr val="cadcfc"/>
                </a:solidFill>
                <a:latin typeface="Calibri"/>
                <a:ea typeface="Calibri"/>
              </a:rPr>
              <a:t>AUC (Area Under ROC Curve) — razlikovanje pozitivnih od negativnih primera  ·  AP (Average Precision) — površina ispod precision-recall krive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1"/>
          <p:cNvSpPr/>
          <p:nvPr/>
        </p:nvSpPr>
        <p:spPr>
          <a:xfrm>
            <a:off x="365760" y="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Eksperimenti i rezultati — Poređenje modela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2"/>
          <p:cNvSpPr/>
          <p:nvPr/>
        </p:nvSpPr>
        <p:spPr>
          <a:xfrm>
            <a:off x="7955280" y="0"/>
            <a:ext cx="10054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Glava 5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3"/>
          <p:cNvSpPr/>
          <p:nvPr/>
        </p:nvSpPr>
        <p:spPr>
          <a:xfrm>
            <a:off x="274320" y="68580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a1628"/>
                </a:solidFill>
                <a:latin typeface="Calibri"/>
                <a:ea typeface="Calibri"/>
              </a:rPr>
              <a:t>Sveobuhvatno poređenje svih modela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17" name="Table 0"/>
          <p:cNvGraphicFramePr/>
          <p:nvPr/>
        </p:nvGraphicFramePr>
        <p:xfrm>
          <a:off x="274320" y="1051560"/>
          <a:ext cx="5028840" cy="17496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  <a:gridCol w="1005840"/>
              </a:tblGrid>
              <a:tr h="4114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Model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Cora AUC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Cora AP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CiteSeer AUC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CiteSeer AP</a:t>
                      </a:r>
                      <a:endParaRPr b="0" lang="en-US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solidFill>
                      <a:srgbClr val="0a1628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1c7293"/>
                          </a:solidFill>
                          <a:latin typeface="Calibri"/>
                          <a:ea typeface="Calibri"/>
                        </a:rPr>
                        <a:t>GAE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1c7293"/>
                          </a:solidFill>
                          <a:latin typeface="Calibri"/>
                          <a:ea typeface="Calibri"/>
                        </a:rPr>
                        <a:t>0.8964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</a:rPr>
                        <a:t>0.9036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</a:rPr>
                        <a:t>0.8824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</a:rPr>
                        <a:t>0.8860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028090"/>
                          </a:solidFill>
                          <a:latin typeface="Calibri"/>
                          <a:ea typeface="Calibri"/>
                        </a:rPr>
                        <a:t>VGAE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</a:rPr>
                        <a:t>0.8894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1e293b"/>
                          </a:solidFill>
                          <a:latin typeface="Calibri"/>
                          <a:ea typeface="Calibri"/>
                        </a:rPr>
                        <a:t>0.8970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028090"/>
                          </a:solidFill>
                          <a:latin typeface="Calibri"/>
                          <a:ea typeface="Calibri"/>
                        </a:rPr>
                        <a:t>0.8986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028090"/>
                          </a:solidFill>
                          <a:latin typeface="Calibri"/>
                          <a:ea typeface="Calibri"/>
                        </a:rPr>
                        <a:t>0.8976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</a:rPr>
                        <a:t>Common Neighbors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</a:rPr>
                        <a:t>0.6930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</a:rPr>
                        <a:t>0.6891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</a:rPr>
                        <a:t>0.6714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64748b"/>
                          </a:solidFill>
                          <a:latin typeface="Calibri"/>
                          <a:ea typeface="Calibri"/>
                        </a:rPr>
                        <a:t>0.6714</a:t>
                      </a:r>
                      <a:endParaRPr b="0" lang="en-US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6480">
                      <a:solidFill>
                        <a:srgbClr val="e2e8f0"/>
                      </a:solidFill>
                      <a:prstDash val="solid"/>
                    </a:lnL>
                    <a:lnR w="6480">
                      <a:solidFill>
                        <a:srgbClr val="e2e8f0"/>
                      </a:solidFill>
                      <a:prstDash val="solid"/>
                    </a:lnR>
                    <a:lnT w="6480">
                      <a:solidFill>
                        <a:srgbClr val="e2e8f0"/>
                      </a:solidFill>
                      <a:prstDash val="solid"/>
                    </a:lnT>
                    <a:lnB w="648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18" name="Chart 0"/>
          <p:cNvGraphicFramePr/>
          <p:nvPr/>
        </p:nvGraphicFramePr>
        <p:xfrm>
          <a:off x="5394960" y="658440"/>
          <a:ext cx="3520080" cy="2742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19" name="Shape 4"/>
          <p:cNvSpPr/>
          <p:nvPr/>
        </p:nvSpPr>
        <p:spPr>
          <a:xfrm>
            <a:off x="274320" y="2971800"/>
            <a:ext cx="5028840" cy="1782720"/>
          </a:xfrm>
          <a:prstGeom prst="rect">
            <a:avLst/>
          </a:prstGeom>
          <a:solidFill>
            <a:srgbClr val="f0fdf4"/>
          </a:solidFill>
          <a:ln w="6350">
            <a:solidFill>
              <a:srgbClr val="bbf7d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5"/>
          <p:cNvSpPr/>
          <p:nvPr/>
        </p:nvSpPr>
        <p:spPr>
          <a:xfrm>
            <a:off x="457200" y="301752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  <a:ea typeface="Calibri"/>
              </a:rPr>
              <a:t>Ključni zaključci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6"/>
          <p:cNvSpPr/>
          <p:nvPr/>
        </p:nvSpPr>
        <p:spPr>
          <a:xfrm>
            <a:off x="457200" y="336492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1c7293"/>
                </a:solidFill>
                <a:latin typeface="Calibri"/>
                <a:ea typeface="Calibri"/>
              </a:rPr>
              <a:t>▲  </a:t>
            </a:r>
            <a:r>
              <a:rPr b="0" lang="en-US" sz="1100" spc="-1" strike="noStrike">
                <a:solidFill>
                  <a:srgbClr val="1c7293"/>
                </a:solidFill>
                <a:latin typeface="Calibri"/>
                <a:ea typeface="Calibri"/>
              </a:rPr>
              <a:t>GNN modeli nadmašuju baseline za 20+ procentnih poena AUC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7"/>
          <p:cNvSpPr/>
          <p:nvPr/>
        </p:nvSpPr>
        <p:spPr>
          <a:xfrm>
            <a:off x="457200" y="378576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28090"/>
                </a:solidFill>
                <a:latin typeface="Calibri"/>
                <a:ea typeface="Calibri"/>
              </a:rPr>
              <a:t>★  </a:t>
            </a:r>
            <a:r>
              <a:rPr b="0" lang="en-US" sz="1100" spc="-1" strike="noStrike">
                <a:solidFill>
                  <a:srgbClr val="028090"/>
                </a:solidFill>
                <a:latin typeface="Calibri"/>
                <a:ea typeface="Calibri"/>
              </a:rPr>
              <a:t>VGAE bolje radi na sređem CiteSeer grafu (prosečan stepen 2.74)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8"/>
          <p:cNvSpPr/>
          <p:nvPr/>
        </p:nvSpPr>
        <p:spPr>
          <a:xfrm>
            <a:off x="457200" y="4206240"/>
            <a:ext cx="46630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●  </a:t>
            </a:r>
            <a:r>
              <a:rPr b="0" lang="en-US" sz="1100" spc="-1" strike="noStrike">
                <a:solidFill>
                  <a:srgbClr val="64748b"/>
                </a:solidFill>
                <a:latin typeface="Calibri"/>
                <a:ea typeface="Calibri"/>
              </a:rPr>
              <a:t>GAE brže konvergira (~100 ep.) vs VGAE (~190 ep.)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365760" y="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Eksperimenti sa hiperparametrima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7772400" y="0"/>
            <a:ext cx="118836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Glava 5.1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7" name="Chart 0"/>
          <p:cNvGraphicFramePr/>
          <p:nvPr/>
        </p:nvGraphicFramePr>
        <p:xfrm>
          <a:off x="274320" y="685800"/>
          <a:ext cx="4114440" cy="2925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28" name="Chart 1"/>
          <p:cNvGraphicFramePr/>
          <p:nvPr/>
        </p:nvGraphicFramePr>
        <p:xfrm>
          <a:off x="4754880" y="685800"/>
          <a:ext cx="4114440" cy="2925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9" name="Shape 3"/>
          <p:cNvSpPr/>
          <p:nvPr/>
        </p:nvSpPr>
        <p:spPr>
          <a:xfrm>
            <a:off x="274320" y="3749040"/>
            <a:ext cx="8595000" cy="109692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4"/>
          <p:cNvSpPr/>
          <p:nvPr/>
        </p:nvSpPr>
        <p:spPr>
          <a:xfrm>
            <a:off x="548640" y="3822120"/>
            <a:ext cx="2559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2c39a"/>
                </a:solidFill>
                <a:latin typeface="Calibri"/>
                <a:ea typeface="Calibri"/>
              </a:rPr>
              <a:t>h=128, o=64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5"/>
          <p:cNvSpPr/>
          <p:nvPr/>
        </p:nvSpPr>
        <p:spPr>
          <a:xfrm>
            <a:off x="548640" y="420624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  <a:ea typeface="Calibri"/>
              </a:rPr>
              <a:t>Najbolja konfiguracija za oba modela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6"/>
          <p:cNvSpPr/>
          <p:nvPr/>
        </p:nvSpPr>
        <p:spPr>
          <a:xfrm>
            <a:off x="3383280" y="3822120"/>
            <a:ext cx="2559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2c39a"/>
                </a:solidFill>
                <a:latin typeface="Calibri"/>
                <a:ea typeface="Calibri"/>
              </a:rPr>
              <a:t>lr = 0.01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 7"/>
          <p:cNvSpPr/>
          <p:nvPr/>
        </p:nvSpPr>
        <p:spPr>
          <a:xfrm>
            <a:off x="3383280" y="420624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  <a:ea typeface="Calibri"/>
              </a:rPr>
              <a:t>Optimalna stopa učenja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8"/>
          <p:cNvSpPr/>
          <p:nvPr/>
        </p:nvSpPr>
        <p:spPr>
          <a:xfrm>
            <a:off x="6217920" y="3822120"/>
            <a:ext cx="2559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02c39a"/>
                </a:solidFill>
                <a:latin typeface="Calibri"/>
                <a:ea typeface="Calibri"/>
              </a:rPr>
              <a:t>VGAE pad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 9"/>
          <p:cNvSpPr/>
          <p:nvPr/>
        </p:nvSpPr>
        <p:spPr>
          <a:xfrm>
            <a:off x="6217920" y="4206240"/>
            <a:ext cx="25599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cadcfc"/>
                </a:solidFill>
                <a:latin typeface="Calibri"/>
                <a:ea typeface="Calibri"/>
              </a:rPr>
              <a:t>lr=0.001 → AUC pada na 0.657 (VGAE)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0"/>
          <p:cNvSpPr/>
          <p:nvPr/>
        </p:nvSpPr>
        <p:spPr>
          <a:xfrm>
            <a:off x="0" y="0"/>
            <a:ext cx="9143640" cy="594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1"/>
          <p:cNvSpPr/>
          <p:nvPr/>
        </p:nvSpPr>
        <p:spPr>
          <a:xfrm>
            <a:off x="365760" y="0"/>
            <a:ext cx="77720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libri"/>
                <a:ea typeface="Calibri"/>
              </a:rPr>
              <a:t>Vizualizacija embeddinga i analiza grešaka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2"/>
          <p:cNvSpPr/>
          <p:nvPr/>
        </p:nvSpPr>
        <p:spPr>
          <a:xfrm>
            <a:off x="7132320" y="0"/>
            <a:ext cx="18284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2c39a"/>
                </a:solidFill>
                <a:latin typeface="Calibri"/>
                <a:ea typeface="Calibri"/>
              </a:rPr>
              <a:t>Glave 5.6 &amp; 5.8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3"/>
          <p:cNvSpPr/>
          <p:nvPr/>
        </p:nvSpPr>
        <p:spPr>
          <a:xfrm>
            <a:off x="274320" y="731520"/>
            <a:ext cx="4205880" cy="320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274320" y="731520"/>
            <a:ext cx="4205880" cy="637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411480" y="79560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1c7293"/>
                </a:solidFill>
                <a:latin typeface="Calibri"/>
                <a:ea typeface="Calibri"/>
              </a:rPr>
              <a:t>t-SNE vizualizacija embeddinga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411480" y="118872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19"/>
          <p:cNvSpPr/>
          <p:nvPr/>
        </p:nvSpPr>
        <p:spPr>
          <a:xfrm>
            <a:off x="411480" y="2377440"/>
            <a:ext cx="38401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4663440" y="731520"/>
            <a:ext cx="4205880" cy="320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35"/>
          <p:cNvSpPr/>
          <p:nvPr/>
        </p:nvSpPr>
        <p:spPr>
          <a:xfrm>
            <a:off x="4663440" y="731520"/>
            <a:ext cx="4205880" cy="63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36"/>
          <p:cNvSpPr/>
          <p:nvPr/>
        </p:nvSpPr>
        <p:spPr>
          <a:xfrm>
            <a:off x="4800600" y="795600"/>
            <a:ext cx="39315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b91c1c"/>
                </a:solidFill>
                <a:latin typeface="Calibri"/>
                <a:ea typeface="Calibri"/>
              </a:rPr>
              <a:t>Analiza grešaka — Common Neighbors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37"/>
          <p:cNvSpPr/>
          <p:nvPr/>
        </p:nvSpPr>
        <p:spPr>
          <a:xfrm>
            <a:off x="4800600" y="1280160"/>
            <a:ext cx="3931560" cy="1188360"/>
          </a:xfrm>
          <a:prstGeom prst="rect">
            <a:avLst/>
          </a:prstGeom>
          <a:solidFill>
            <a:srgbClr val="fef2f2"/>
          </a:solidFill>
          <a:ln w="6350">
            <a:solidFill>
              <a:srgbClr val="fecaca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38"/>
          <p:cNvSpPr/>
          <p:nvPr/>
        </p:nvSpPr>
        <p:spPr>
          <a:xfrm>
            <a:off x="4919400" y="13348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b91c1c"/>
                </a:solidFill>
                <a:latin typeface="Calibri"/>
                <a:ea typeface="Calibri"/>
              </a:rPr>
              <a:t>Lažno pozitivni (FP)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 39"/>
          <p:cNvSpPr/>
          <p:nvPr/>
        </p:nvSpPr>
        <p:spPr>
          <a:xfrm>
            <a:off x="4919400" y="1627560"/>
            <a:ext cx="365724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Čvorovi dele zajedničke susede ali NISU direktno povezani.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Primer: par (137, 2144) sa CN=3 — 3 zajednička suseda, ali veza ne postoji.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40"/>
          <p:cNvSpPr/>
          <p:nvPr/>
        </p:nvSpPr>
        <p:spPr>
          <a:xfrm>
            <a:off x="4800600" y="2651760"/>
            <a:ext cx="3931560" cy="1188360"/>
          </a:xfrm>
          <a:prstGeom prst="rect">
            <a:avLst/>
          </a:prstGeom>
          <a:solidFill>
            <a:srgbClr val="fff7ed"/>
          </a:solidFill>
          <a:ln w="6350">
            <a:solidFill>
              <a:srgbClr val="fed7aa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41"/>
          <p:cNvSpPr/>
          <p:nvPr/>
        </p:nvSpPr>
        <p:spPr>
          <a:xfrm>
            <a:off x="4919400" y="270648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2410c"/>
                </a:solidFill>
                <a:latin typeface="Calibri"/>
                <a:ea typeface="Calibri"/>
              </a:rPr>
              <a:t>Lažni negativi (FN)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42"/>
          <p:cNvSpPr/>
          <p:nvPr/>
        </p:nvSpPr>
        <p:spPr>
          <a:xfrm>
            <a:off x="4919400" y="2999160"/>
            <a:ext cx="365724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Stvarne veze između čvorova bez zajedničkih suseda (CN=0).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e293b"/>
                </a:solidFill>
                <a:latin typeface="Calibri"/>
                <a:ea typeface="Calibri"/>
              </a:rPr>
              <a:t>Fundamentalno ograničenje: CN ne vidi veze između topološki udaljenih, semantički srodnih čvorova.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43"/>
          <p:cNvSpPr/>
          <p:nvPr/>
        </p:nvSpPr>
        <p:spPr>
          <a:xfrm>
            <a:off x="4800600" y="3749040"/>
            <a:ext cx="3931560" cy="475200"/>
          </a:xfrm>
          <a:prstGeom prst="rect">
            <a:avLst/>
          </a:prstGeom>
          <a:solidFill>
            <a:srgbClr val="eff6ff"/>
          </a:solidFill>
          <a:ln w="6350">
            <a:solidFill>
              <a:srgbClr val="bfdbf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44"/>
          <p:cNvSpPr/>
          <p:nvPr/>
        </p:nvSpPr>
        <p:spPr>
          <a:xfrm>
            <a:off x="4919400" y="3749040"/>
            <a:ext cx="374868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065a82"/>
                </a:solidFill>
                <a:latin typeface="Calibri"/>
                <a:ea typeface="Calibri"/>
              </a:rPr>
              <a:t>GNN modeli prevazilaze ova ograničenja kroz multi-hop propagaciju informacija (2-hop susedstvo).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411480" y="1314360"/>
            <a:ext cx="1874520" cy="1406160"/>
          </a:xfrm>
          <a:prstGeom prst="rect">
            <a:avLst/>
          </a:prstGeom>
          <a:ln w="0">
            <a:noFill/>
          </a:ln>
        </p:spPr>
      </p:pic>
      <p:pic>
        <p:nvPicPr>
          <p:cNvPr id="156" name="" descr=""/>
          <p:cNvPicPr/>
          <p:nvPr/>
        </p:nvPicPr>
        <p:blipFill>
          <a:blip r:embed="rId2"/>
          <a:stretch/>
        </p:blipFill>
        <p:spPr>
          <a:xfrm>
            <a:off x="2454120" y="2377440"/>
            <a:ext cx="1889280" cy="1416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0"/>
          <p:cNvSpPr/>
          <p:nvPr/>
        </p:nvSpPr>
        <p:spPr>
          <a:xfrm>
            <a:off x="5943600" y="-914400"/>
            <a:ext cx="5486040" cy="5486040"/>
          </a:xfrm>
          <a:prstGeom prst="ellipse">
            <a:avLst/>
          </a:prstGeom>
          <a:solidFill>
            <a:srgbClr val="1c7293">
              <a:alpha val="18000"/>
            </a:srgbClr>
          </a:solidFill>
          <a:ln w="12700">
            <a:solidFill>
              <a:srgbClr val="1c7293">
                <a:alpha val="18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Shape 1"/>
          <p:cNvSpPr/>
          <p:nvPr/>
        </p:nvSpPr>
        <p:spPr>
          <a:xfrm>
            <a:off x="-914400" y="2743200"/>
            <a:ext cx="3657240" cy="365724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>
                <a:alpha val="1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2"/>
          <p:cNvSpPr/>
          <p:nvPr/>
        </p:nvSpPr>
        <p:spPr>
          <a:xfrm>
            <a:off x="548640" y="274320"/>
            <a:ext cx="45716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Calibri"/>
                <a:ea typeface="Calibri"/>
              </a:rPr>
              <a:t>Zaključak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hape 3"/>
          <p:cNvSpPr/>
          <p:nvPr/>
        </p:nvSpPr>
        <p:spPr>
          <a:xfrm>
            <a:off x="548640" y="1005840"/>
            <a:ext cx="1919880" cy="1005480"/>
          </a:xfrm>
          <a:prstGeom prst="rect">
            <a:avLst/>
          </a:prstGeom>
          <a:solidFill>
            <a:srgbClr val="0d2240"/>
          </a:solidFill>
          <a:ln w="635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"/>
          <p:cNvSpPr/>
          <p:nvPr/>
        </p:nvSpPr>
        <p:spPr>
          <a:xfrm>
            <a:off x="548640" y="1051560"/>
            <a:ext cx="1919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2c39a"/>
                </a:solidFill>
                <a:latin typeface="Calibri"/>
                <a:ea typeface="Calibri"/>
              </a:rPr>
              <a:t>~0.89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5"/>
          <p:cNvSpPr/>
          <p:nvPr/>
        </p:nvSpPr>
        <p:spPr>
          <a:xfrm>
            <a:off x="548640" y="1536120"/>
            <a:ext cx="1919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aecfd8"/>
                </a:solidFill>
                <a:latin typeface="Calibri"/>
                <a:ea typeface="Calibri"/>
              </a:rPr>
              <a:t>AUC (GAE &amp; VGAE)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Shape 6"/>
          <p:cNvSpPr/>
          <p:nvPr/>
        </p:nvSpPr>
        <p:spPr>
          <a:xfrm>
            <a:off x="2697480" y="1005840"/>
            <a:ext cx="1919880" cy="1005480"/>
          </a:xfrm>
          <a:prstGeom prst="rect">
            <a:avLst/>
          </a:prstGeom>
          <a:solidFill>
            <a:srgbClr val="0d2240"/>
          </a:solidFill>
          <a:ln w="635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7"/>
          <p:cNvSpPr/>
          <p:nvPr/>
        </p:nvSpPr>
        <p:spPr>
          <a:xfrm>
            <a:off x="2697480" y="1051560"/>
            <a:ext cx="1919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2c39a"/>
                </a:solidFill>
                <a:latin typeface="Calibri"/>
                <a:ea typeface="Calibri"/>
              </a:rPr>
              <a:t>+20pp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Text 8"/>
          <p:cNvSpPr/>
          <p:nvPr/>
        </p:nvSpPr>
        <p:spPr>
          <a:xfrm>
            <a:off x="2697480" y="1536120"/>
            <a:ext cx="1919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aecfd8"/>
                </a:solidFill>
                <a:latin typeface="Calibri"/>
                <a:ea typeface="Calibri"/>
              </a:rPr>
              <a:t>vs. Common Neighbors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9"/>
          <p:cNvSpPr/>
          <p:nvPr/>
        </p:nvSpPr>
        <p:spPr>
          <a:xfrm>
            <a:off x="4846320" y="1005840"/>
            <a:ext cx="1919880" cy="1005480"/>
          </a:xfrm>
          <a:prstGeom prst="rect">
            <a:avLst/>
          </a:prstGeom>
          <a:solidFill>
            <a:srgbClr val="0d2240"/>
          </a:solidFill>
          <a:ln w="635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10"/>
          <p:cNvSpPr/>
          <p:nvPr/>
        </p:nvSpPr>
        <p:spPr>
          <a:xfrm>
            <a:off x="4846320" y="1051560"/>
            <a:ext cx="1919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2c39a"/>
                </a:solidFill>
                <a:latin typeface="Calibri"/>
                <a:ea typeface="Calibri"/>
              </a:rPr>
              <a:t>h=128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11"/>
          <p:cNvSpPr/>
          <p:nvPr/>
        </p:nvSpPr>
        <p:spPr>
          <a:xfrm>
            <a:off x="4846320" y="1536120"/>
            <a:ext cx="1919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aecfd8"/>
                </a:solidFill>
                <a:latin typeface="Calibri"/>
                <a:ea typeface="Calibri"/>
              </a:rPr>
              <a:t>Optimalna konfiguracija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12"/>
          <p:cNvSpPr/>
          <p:nvPr/>
        </p:nvSpPr>
        <p:spPr>
          <a:xfrm>
            <a:off x="6995160" y="1005840"/>
            <a:ext cx="1919880" cy="1005480"/>
          </a:xfrm>
          <a:prstGeom prst="rect">
            <a:avLst/>
          </a:prstGeom>
          <a:solidFill>
            <a:srgbClr val="0d2240"/>
          </a:solidFill>
          <a:ln w="635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13"/>
          <p:cNvSpPr/>
          <p:nvPr/>
        </p:nvSpPr>
        <p:spPr>
          <a:xfrm>
            <a:off x="6995160" y="1051560"/>
            <a:ext cx="1919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02c39a"/>
                </a:solidFill>
                <a:latin typeface="Calibri"/>
                <a:ea typeface="Calibri"/>
              </a:rPr>
              <a:t>t-SNE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14"/>
          <p:cNvSpPr/>
          <p:nvPr/>
        </p:nvSpPr>
        <p:spPr>
          <a:xfrm>
            <a:off x="6995160" y="1536120"/>
            <a:ext cx="19198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aecfd8"/>
                </a:solidFill>
                <a:latin typeface="Calibri"/>
                <a:ea typeface="Calibri"/>
              </a:rPr>
              <a:t>Potvrda klasterske strukture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15"/>
          <p:cNvSpPr/>
          <p:nvPr/>
        </p:nvSpPr>
        <p:spPr>
          <a:xfrm>
            <a:off x="548640" y="2148840"/>
            <a:ext cx="804636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cbd5e1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bd5e1"/>
                </a:solidFill>
                <a:latin typeface="Calibri"/>
                <a:ea typeface="Calibri"/>
              </a:rPr>
              <a:t>GAE: AUC 0.8964 (Cora) | 0.8824 (CiteSeer) — brza, monotona konvergencija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cbd5e1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bd5e1"/>
                </a:solidFill>
                <a:latin typeface="Calibri"/>
                <a:ea typeface="Calibri"/>
              </a:rPr>
              <a:t>VGAE: AUC 0.8894 (Cora) | 0.8986 (CiteSeer) — probabilistička regularizacija koristi na CiteSeer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cbd5e1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bd5e1"/>
                </a:solidFill>
                <a:latin typeface="Calibri"/>
                <a:ea typeface="Calibri"/>
              </a:rPr>
              <a:t>Common Neighbors: AUC 0.6930 / 0.6714 — ne vidi semantički srodne, topološki udaljene čvorove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cbd5e1"/>
              </a:buClr>
              <a:buFont typeface="Symbol" charset="2"/>
              <a:buChar char=""/>
            </a:pPr>
            <a:r>
              <a:rPr b="0" lang="en-US" sz="1200" spc="-1" strike="noStrike">
                <a:solidFill>
                  <a:srgbClr val="cbd5e1"/>
                </a:solidFill>
                <a:latin typeface="Calibri"/>
                <a:ea typeface="Calibri"/>
              </a:rPr>
              <a:t>Veće dimenzije embeddinga (h=128, o=64) konzistentno daju bolje rezultate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Shape 16"/>
          <p:cNvSpPr/>
          <p:nvPr/>
        </p:nvSpPr>
        <p:spPr>
          <a:xfrm>
            <a:off x="548640" y="3931920"/>
            <a:ext cx="8046360" cy="868320"/>
          </a:xfrm>
          <a:prstGeom prst="rect">
            <a:avLst/>
          </a:prstGeom>
          <a:solidFill>
            <a:srgbClr val="0d2240"/>
          </a:solidFill>
          <a:ln w="6350">
            <a:solidFill>
              <a:srgbClr val="1c7293"/>
            </a:solidFill>
            <a:round/>
          </a:ln>
          <a:effectLst>
            <a:outerShdw algn="bl" blurRad="101520" dir="8100000" dist="25455" kx="0" ky="0" rotWithShape="0" sx="100000" sy="100000">
              <a:srgbClr val="000000">
                <a:alpha val="1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17"/>
          <p:cNvSpPr/>
          <p:nvPr/>
        </p:nvSpPr>
        <p:spPr>
          <a:xfrm>
            <a:off x="731520" y="3931920"/>
            <a:ext cx="77720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2026-05-18T09:10:11Z</dcterms:created>
  <dc:creator>PptxGenJS</dc:creator>
  <dc:description/>
  <dc:language>en-US</dc:language>
  <cp:lastModifiedBy/>
  <dcterms:modified xsi:type="dcterms:W3CDTF">2026-05-18T11:25:25Z</dcterms:modified>
  <cp:revision>2</cp:revision>
  <dc:subject>PptxGenJS Presentation</dc:subject>
  <dc:title>GNN za predikciju veza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On-screen Show (16:9)</vt:lpwstr>
  </property>
  <property fmtid="{D5CDD505-2E9C-101B-9397-08002B2CF9AE}" pid="4" name="Slides">
    <vt:i4>8</vt:i4>
  </property>
</Properties>
</file>