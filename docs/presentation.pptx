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100" spc="-1" strike="noStrike">
                <a:solidFill>
                  <a:srgbClr val="0a1628"/>
                </a:solidFill>
                <a:latin typeface="Arial"/>
              </a:defRPr>
            </a:pPr>
            <a:r>
              <a:rPr b="0" sz="1100" spc="-1" strike="noStrike">
                <a:solidFill>
                  <a:srgbClr val="0a1628"/>
                </a:solidFill>
                <a:latin typeface="Arial"/>
              </a:rPr>
              <a:t>AUC po modelu i skupu podataka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Cora AUC</c:v>
                </c:pt>
              </c:strCache>
            </c:strRef>
          </c:tx>
          <c:spPr>
            <a:solidFill>
              <a:srgbClr val="1c7293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GAE</c:v>
                </c:pt>
                <c:pt idx="1">
                  <c:v>VGAE</c:v>
                </c:pt>
                <c:pt idx="2">
                  <c:v>Com. Neighbors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0.8964</c:v>
                </c:pt>
                <c:pt idx="1">
                  <c:v>0.8894</c:v>
                </c:pt>
                <c:pt idx="2">
                  <c:v>0.693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CiteSeer AUC</c:v>
                </c:pt>
              </c:strCache>
            </c:strRef>
          </c:tx>
          <c:spPr>
            <a:solidFill>
              <a:srgbClr val="02c39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GAE</c:v>
                </c:pt>
                <c:pt idx="1">
                  <c:v>VGAE</c:v>
                </c:pt>
                <c:pt idx="2">
                  <c:v>Com. Neighbors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0.8824</c:v>
                </c:pt>
                <c:pt idx="1">
                  <c:v>0.8986</c:v>
                </c:pt>
                <c:pt idx="2">
                  <c:v>0.6714</c:v>
                </c:pt>
              </c:numCache>
            </c:numRef>
          </c:val>
        </c:ser>
        <c:gapWidth val="150"/>
        <c:overlap val="0"/>
        <c:axId val="77940894"/>
        <c:axId val="61115626"/>
      </c:barChart>
      <c:catAx>
        <c:axId val="7794089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61115626"/>
        <c:crosses val="autoZero"/>
        <c:auto val="1"/>
        <c:lblAlgn val="ctr"/>
        <c:lblOffset val="100"/>
        <c:noMultiLvlLbl val="0"/>
      </c:catAx>
      <c:valAx>
        <c:axId val="61115626"/>
        <c:scaling>
          <c:orientation val="minMax"/>
          <c:max val="1"/>
          <c:min val="0.5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7794089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0a1628"/>
                </a:solidFill>
                <a:latin typeface="Arial"/>
              </a:defRPr>
            </a:pPr>
            <a:r>
              <a:rPr b="0" sz="1200" spc="-1" strike="noStrike">
                <a:solidFill>
                  <a:srgbClr val="0a1628"/>
                </a:solidFill>
                <a:latin typeface="Arial"/>
              </a:rPr>
              <a:t>GAE hiperparametri (Cora)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c7293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h=128,o=64
lr=0.01</c:v>
                </c:pt>
                <c:pt idx="1">
                  <c:v>h=64,o=32
lr=0.01</c:v>
                </c:pt>
                <c:pt idx="2">
                  <c:v>h=32,o=16
lr=0.01</c:v>
                </c:pt>
                <c:pt idx="3">
                  <c:v>h=64,o=32
lr=0.001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0.92</c:v>
                </c:pt>
                <c:pt idx="1">
                  <c:v>0.9132</c:v>
                </c:pt>
                <c:pt idx="2">
                  <c:v>0.906</c:v>
                </c:pt>
                <c:pt idx="3">
                  <c:v>0.8466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AP</c:v>
                </c:pt>
              </c:strCache>
            </c:strRef>
          </c:tx>
          <c:spPr>
            <a:solidFill>
              <a:srgbClr val="65b8d0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h=128,o=64
lr=0.01</c:v>
                </c:pt>
                <c:pt idx="1">
                  <c:v>h=64,o=32
lr=0.01</c:v>
                </c:pt>
                <c:pt idx="2">
                  <c:v>h=32,o=16
lr=0.01</c:v>
                </c:pt>
                <c:pt idx="3">
                  <c:v>h=64,o=32
lr=0.001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0.9296</c:v>
                </c:pt>
                <c:pt idx="1">
                  <c:v>0.9166</c:v>
                </c:pt>
                <c:pt idx="2">
                  <c:v>0.9113</c:v>
                </c:pt>
                <c:pt idx="3">
                  <c:v>0.8423</c:v>
                </c:pt>
              </c:numCache>
            </c:numRef>
          </c:val>
        </c:ser>
        <c:gapWidth val="150"/>
        <c:overlap val="0"/>
        <c:axId val="13723991"/>
        <c:axId val="26734696"/>
      </c:barChart>
      <c:catAx>
        <c:axId val="1372399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26734696"/>
        <c:crosses val="autoZero"/>
        <c:auto val="1"/>
        <c:lblAlgn val="ctr"/>
        <c:lblOffset val="100"/>
        <c:noMultiLvlLbl val="0"/>
      </c:catAx>
      <c:valAx>
        <c:axId val="26734696"/>
        <c:scaling>
          <c:orientation val="minMax"/>
          <c:max val="0.95"/>
          <c:min val="0.8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13723991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200" spc="-1" strike="noStrike">
                <a:solidFill>
                  <a:srgbClr val="0a1628"/>
                </a:solidFill>
                <a:latin typeface="Arial"/>
              </a:defRPr>
            </a:pPr>
            <a:r>
              <a:rPr b="0" sz="1200" spc="-1" strike="noStrike">
                <a:solidFill>
                  <a:srgbClr val="0a1628"/>
                </a:solidFill>
                <a:latin typeface="Arial"/>
              </a:rPr>
              <a:t>VGAE hiperparametri (Cora)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28090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h=128,o=64
lr=0.01</c:v>
                </c:pt>
                <c:pt idx="1">
                  <c:v>h=64,o=32
lr=0.01</c:v>
                </c:pt>
                <c:pt idx="2">
                  <c:v>h=32,o=16
lr=0.01</c:v>
                </c:pt>
                <c:pt idx="3">
                  <c:v>h=64,o=32
lr=0.001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0.9133</c:v>
                </c:pt>
                <c:pt idx="1">
                  <c:v>0.8895</c:v>
                </c:pt>
                <c:pt idx="2">
                  <c:v>0.8559</c:v>
                </c:pt>
                <c:pt idx="3">
                  <c:v>0.6572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AP</c:v>
                </c:pt>
              </c:strCache>
            </c:strRef>
          </c:tx>
          <c:spPr>
            <a:solidFill>
              <a:srgbClr val="5eead4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h=128,o=64
lr=0.01</c:v>
                </c:pt>
                <c:pt idx="1">
                  <c:v>h=64,o=32
lr=0.01</c:v>
                </c:pt>
                <c:pt idx="2">
                  <c:v>h=32,o=16
lr=0.01</c:v>
                </c:pt>
                <c:pt idx="3">
                  <c:v>h=64,o=32
lr=0.001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0.924</c:v>
                </c:pt>
                <c:pt idx="1">
                  <c:v>0.8941</c:v>
                </c:pt>
                <c:pt idx="2">
                  <c:v>0.8561</c:v>
                </c:pt>
                <c:pt idx="3">
                  <c:v>0.702</c:v>
                </c:pt>
              </c:numCache>
            </c:numRef>
          </c:val>
        </c:ser>
        <c:gapWidth val="150"/>
        <c:overlap val="0"/>
        <c:axId val="20757641"/>
        <c:axId val="27199703"/>
      </c:barChart>
      <c:catAx>
        <c:axId val="2075764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27199703"/>
        <c:crosses val="autoZero"/>
        <c:auto val="1"/>
        <c:lblAlgn val="ctr"/>
        <c:lblOffset val="100"/>
        <c:noMultiLvlLbl val="0"/>
      </c:catAx>
      <c:valAx>
        <c:axId val="27199703"/>
        <c:scaling>
          <c:orientation val="minMax"/>
          <c:max val="0.95"/>
          <c:min val="0.6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20757641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</a:t>
            </a:r>
            <a:r>
              <a:rPr b="0" lang="en-US" sz="4400" spc="-1" strike="noStrike">
                <a:latin typeface="Arial"/>
              </a:rPr>
              <a:t>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mo</a:t>
            </a:r>
            <a:r>
              <a:rPr b="0" lang="en-US" sz="4400" spc="-1" strike="noStrike">
                <a:latin typeface="Arial"/>
              </a:rPr>
              <a:t>ve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sli</a:t>
            </a:r>
            <a:r>
              <a:rPr b="0" lang="en-US" sz="4400" spc="-1" strike="noStrike">
                <a:latin typeface="Arial"/>
              </a:rPr>
              <a:t>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edit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note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form</a:t>
            </a:r>
            <a:r>
              <a:rPr b="0" lang="en-US" sz="2000" spc="-1" strike="noStrike">
                <a:latin typeface="Arial"/>
              </a:rPr>
              <a:t>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EC8B784-552F-4368-A547-6E888F3EB35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6BCBD13-FEDC-4EC7-B9EA-D556193CBBF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A4B6F64-16F1-47CE-B93C-F0E8D748BA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8B63506-A3B6-4D2E-83C8-B5FA6D0E485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A10A2CA-2717-4ECC-9F82-FE4832A385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8EA2D54-D86C-4152-B3C2-1DA107D64C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E46FF49-BC56-4451-9A38-53DB194DAD4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1627F6C-C47E-4D29-B314-1B95B3360FB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4BBAD14-D05E-4F80-934D-10A57DD6DD8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</a:t>
            </a:r>
            <a:r>
              <a:rPr b="0" lang="en-US" sz="4400" spc="-1" strike="noStrike">
                <a:latin typeface="Arial"/>
              </a:rPr>
              <a:t>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edi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</a:t>
            </a:r>
            <a:r>
              <a:rPr b="0" lang="en-US" sz="4400" spc="-1" strike="noStrike">
                <a:latin typeface="Arial"/>
              </a:rPr>
              <a:t>e </a:t>
            </a:r>
            <a:r>
              <a:rPr b="0" lang="en-US" sz="4400" spc="-1" strike="noStrike">
                <a:latin typeface="Arial"/>
              </a:rPr>
              <a:t>tex</a:t>
            </a:r>
            <a:r>
              <a:rPr b="0" lang="en-US" sz="4400" spc="-1" strike="noStrike">
                <a:latin typeface="Arial"/>
              </a:rPr>
              <a:t>t </a:t>
            </a:r>
            <a:r>
              <a:rPr b="0" lang="en-US" sz="4400" spc="-1" strike="noStrike">
                <a:latin typeface="Arial"/>
              </a:rPr>
              <a:t>for</a:t>
            </a:r>
            <a:r>
              <a:rPr b="0" lang="en-US" sz="4400" spc="-1" strike="noStrike">
                <a:latin typeface="Arial"/>
              </a:rPr>
              <a:t>ma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chart" Target="..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6858000" y="-1371600"/>
            <a:ext cx="4571280" cy="457128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-914400" y="3200400"/>
            <a:ext cx="3199680" cy="3199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914400" y="1645920"/>
            <a:ext cx="63360" cy="1462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1097280" y="1371600"/>
            <a:ext cx="68572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Graph Neural Network</a:t>
            </a:r>
            <a:endParaRPr b="0" lang="en-US" sz="3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For Link Prediction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097280" y="3154680"/>
            <a:ext cx="7131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2c39a"/>
                </a:solidFill>
                <a:latin typeface="Calibri"/>
                <a:ea typeface="Calibri"/>
              </a:rPr>
              <a:t>Graph Autoencoder (GAE) · Variational Graph Autoencoder (VGAE) · Common Neighbors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1097280" y="365760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ecfd8"/>
                </a:solidFill>
                <a:latin typeface="Calibri"/>
                <a:ea typeface="Calibri"/>
              </a:rPr>
              <a:t>Bogdan Delić 36/2020  ·  Zarija Trtović 39/2020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1097280" y="4023360"/>
            <a:ext cx="6400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6b8fa3"/>
                </a:solidFill>
                <a:latin typeface="Calibri"/>
                <a:ea typeface="Calibri"/>
              </a:rPr>
              <a:t>Računarska inteligencija  ·  Matematički fakultet, Beograd  ·  2026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8046720" y="914400"/>
            <a:ext cx="200520" cy="20052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Shape 8"/>
          <p:cNvSpPr/>
          <p:nvPr/>
        </p:nvSpPr>
        <p:spPr>
          <a:xfrm>
            <a:off x="8595360" y="1463040"/>
            <a:ext cx="200520" cy="20052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Shape 9"/>
          <p:cNvSpPr/>
          <p:nvPr/>
        </p:nvSpPr>
        <p:spPr>
          <a:xfrm>
            <a:off x="7772400" y="2103120"/>
            <a:ext cx="200520" cy="20052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0"/>
          <p:cNvSpPr/>
          <p:nvPr/>
        </p:nvSpPr>
        <p:spPr>
          <a:xfrm>
            <a:off x="8412480" y="2560320"/>
            <a:ext cx="200520" cy="20052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Shape 11"/>
          <p:cNvSpPr/>
          <p:nvPr/>
        </p:nvSpPr>
        <p:spPr>
          <a:xfrm>
            <a:off x="7315200" y="2926080"/>
            <a:ext cx="200520" cy="20052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2"/>
          <p:cNvSpPr/>
          <p:nvPr/>
        </p:nvSpPr>
        <p:spPr>
          <a:xfrm>
            <a:off x="8778240" y="3108960"/>
            <a:ext cx="200520" cy="20052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13"/>
          <p:cNvSpPr/>
          <p:nvPr/>
        </p:nvSpPr>
        <p:spPr>
          <a:xfrm>
            <a:off x="8147160" y="1014840"/>
            <a:ext cx="548640" cy="548640"/>
          </a:xfrm>
          <a:prstGeom prst="line">
            <a:avLst/>
          </a:prstGeom>
          <a:ln w="12700">
            <a:solidFill>
              <a:srgbClr val="02c3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14"/>
          <p:cNvSpPr/>
          <p:nvPr/>
        </p:nvSpPr>
        <p:spPr>
          <a:xfrm flipH="1">
            <a:off x="7872840" y="1014840"/>
            <a:ext cx="274320" cy="1188720"/>
          </a:xfrm>
          <a:prstGeom prst="line">
            <a:avLst/>
          </a:prstGeom>
          <a:ln w="12700">
            <a:solidFill>
              <a:srgbClr val="02c3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Shape 15"/>
          <p:cNvSpPr/>
          <p:nvPr/>
        </p:nvSpPr>
        <p:spPr>
          <a:xfrm flipH="1">
            <a:off x="8512920" y="1563480"/>
            <a:ext cx="182880" cy="1097280"/>
          </a:xfrm>
          <a:prstGeom prst="line">
            <a:avLst/>
          </a:prstGeom>
          <a:ln w="12700">
            <a:solidFill>
              <a:srgbClr val="02c3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16"/>
          <p:cNvSpPr/>
          <p:nvPr/>
        </p:nvSpPr>
        <p:spPr>
          <a:xfrm>
            <a:off x="7872840" y="2203560"/>
            <a:ext cx="640080" cy="457200"/>
          </a:xfrm>
          <a:prstGeom prst="line">
            <a:avLst/>
          </a:prstGeom>
          <a:ln w="12700">
            <a:solidFill>
              <a:srgbClr val="02c3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Shape 17"/>
          <p:cNvSpPr/>
          <p:nvPr/>
        </p:nvSpPr>
        <p:spPr>
          <a:xfrm flipH="1">
            <a:off x="7415640" y="2203560"/>
            <a:ext cx="457200" cy="822960"/>
          </a:xfrm>
          <a:prstGeom prst="line">
            <a:avLst/>
          </a:prstGeom>
          <a:ln w="12700">
            <a:solidFill>
              <a:srgbClr val="02c3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Shape 18"/>
          <p:cNvSpPr/>
          <p:nvPr/>
        </p:nvSpPr>
        <p:spPr>
          <a:xfrm>
            <a:off x="8512920" y="2660760"/>
            <a:ext cx="365760" cy="548640"/>
          </a:xfrm>
          <a:prstGeom prst="line">
            <a:avLst/>
          </a:prstGeom>
          <a:ln w="12700">
            <a:solidFill>
              <a:srgbClr val="02c39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Uvod i teorijska osnova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7498080" y="0"/>
            <a:ext cx="1462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Glave 1 &amp; 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228600" y="777240"/>
            <a:ext cx="2651040" cy="3291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" name="Shape 4"/>
          <p:cNvSpPr/>
          <p:nvPr/>
        </p:nvSpPr>
        <p:spPr>
          <a:xfrm>
            <a:off x="228600" y="777240"/>
            <a:ext cx="2651040" cy="63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 5"/>
          <p:cNvSpPr/>
          <p:nvPr/>
        </p:nvSpPr>
        <p:spPr>
          <a:xfrm>
            <a:off x="365760" y="91440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a1628"/>
                </a:solidFill>
                <a:latin typeface="Calibri"/>
                <a:ea typeface="Calibri"/>
              </a:rPr>
              <a:t>🔗  </a:t>
            </a:r>
            <a:r>
              <a:rPr b="1" lang="en-US" sz="1400" spc="-1" strike="noStrike">
                <a:solidFill>
                  <a:srgbClr val="0a1628"/>
                </a:solidFill>
                <a:latin typeface="Calibri"/>
                <a:ea typeface="Calibri"/>
              </a:rPr>
              <a:t>Problem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365760" y="1463040"/>
            <a:ext cx="23767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Predviđanje veza koje postoje ali nisu zabeležene, ili će se pojaviti u budućnosti.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Formalno: G = (V, E) → ocena P(grane u,v) za parove koji nisu u E.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3063240" y="777240"/>
            <a:ext cx="2651040" cy="3291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" name="Shape 8"/>
          <p:cNvSpPr/>
          <p:nvPr/>
        </p:nvSpPr>
        <p:spPr>
          <a:xfrm>
            <a:off x="3063240" y="777240"/>
            <a:ext cx="2651040" cy="63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9"/>
          <p:cNvSpPr/>
          <p:nvPr/>
        </p:nvSpPr>
        <p:spPr>
          <a:xfrm>
            <a:off x="3200400" y="91440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a1628"/>
                </a:solidFill>
                <a:latin typeface="Calibri"/>
                <a:ea typeface="Calibri"/>
              </a:rPr>
              <a:t>⚙️  </a:t>
            </a:r>
            <a:r>
              <a:rPr b="1" lang="en-US" sz="1400" spc="-1" strike="noStrike">
                <a:solidFill>
                  <a:srgbClr val="0a1628"/>
                </a:solidFill>
                <a:latin typeface="Calibri"/>
                <a:ea typeface="Calibri"/>
              </a:rPr>
              <a:t>Metode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3200400" y="1463040"/>
            <a:ext cx="23767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GAE — Graph Autoencoder (GCN enkoder + skalarni proizvod dekoder).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VGAE — Variational GAE, probabilistički okvir (VAE + KL regularizacija).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Common Neighbors — heuristički baseline (|N(u)∩N(v)|).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5897880" y="777240"/>
            <a:ext cx="2651040" cy="3291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" name="Shape 12"/>
          <p:cNvSpPr/>
          <p:nvPr/>
        </p:nvSpPr>
        <p:spPr>
          <a:xfrm>
            <a:off x="5897880" y="777240"/>
            <a:ext cx="2651040" cy="63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13"/>
          <p:cNvSpPr/>
          <p:nvPr/>
        </p:nvSpPr>
        <p:spPr>
          <a:xfrm>
            <a:off x="6035040" y="914400"/>
            <a:ext cx="2376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a1628"/>
                </a:solidFill>
                <a:latin typeface="Calibri"/>
                <a:ea typeface="Calibri"/>
              </a:rPr>
              <a:t>🌐  </a:t>
            </a:r>
            <a:r>
              <a:rPr b="1" lang="en-US" sz="1400" spc="-1" strike="noStrike">
                <a:solidFill>
                  <a:srgbClr val="0a1628"/>
                </a:solidFill>
                <a:latin typeface="Calibri"/>
                <a:ea typeface="Calibri"/>
              </a:rPr>
              <a:t>Primene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6035040" y="1463040"/>
            <a:ext cx="23767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Preporuka prijatelja (LinkedIn, Facebook).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Interakcije protein–lek u bioinformatici.</a:t>
            </a:r>
            <a:endParaRPr b="0" lang="en-US" sz="11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e293b"/>
              </a:buClr>
              <a:buFont typeface="Symbol"/>
              <a:buChar char=""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Otkrivanje prevara u finansijskim mrežama.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228600" y="4206240"/>
            <a:ext cx="8686080" cy="685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Skupovi podataka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7772400" y="0"/>
            <a:ext cx="1188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Glava 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274320" y="777240"/>
            <a:ext cx="4114080" cy="3108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4"/>
          <p:cNvSpPr/>
          <p:nvPr/>
        </p:nvSpPr>
        <p:spPr>
          <a:xfrm>
            <a:off x="274320" y="777240"/>
            <a:ext cx="4114080" cy="566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5"/>
          <p:cNvSpPr/>
          <p:nvPr/>
        </p:nvSpPr>
        <p:spPr>
          <a:xfrm>
            <a:off x="411480" y="82296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Cora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411480" y="1097280"/>
            <a:ext cx="3839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Mreža mašinskog učenja — 7 klasa tema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365760" y="1435680"/>
            <a:ext cx="3931200" cy="4381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8"/>
          <p:cNvSpPr/>
          <p:nvPr/>
        </p:nvSpPr>
        <p:spPr>
          <a:xfrm>
            <a:off x="457200" y="148140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Čvorovi (radovi)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2834640" y="148140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2 708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9" name="Shape 10"/>
          <p:cNvSpPr/>
          <p:nvPr/>
        </p:nvSpPr>
        <p:spPr>
          <a:xfrm>
            <a:off x="365760" y="1911240"/>
            <a:ext cx="3931200" cy="438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1"/>
          <p:cNvSpPr/>
          <p:nvPr/>
        </p:nvSpPr>
        <p:spPr>
          <a:xfrm>
            <a:off x="457200" y="195696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Grane (citati)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2834640" y="19569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10 556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365760" y="2386440"/>
            <a:ext cx="3931200" cy="4381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14"/>
          <p:cNvSpPr/>
          <p:nvPr/>
        </p:nvSpPr>
        <p:spPr>
          <a:xfrm>
            <a:off x="457200" y="243216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Feature vektor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2834640" y="24321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1 433 dim.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365760" y="2862000"/>
            <a:ext cx="3931200" cy="438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7"/>
          <p:cNvSpPr/>
          <p:nvPr/>
        </p:nvSpPr>
        <p:spPr>
          <a:xfrm>
            <a:off x="457200" y="290772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Prosečan stepen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2834640" y="290772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3.90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365760" y="3337560"/>
            <a:ext cx="3931200" cy="4381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20"/>
          <p:cNvSpPr/>
          <p:nvPr/>
        </p:nvSpPr>
        <p:spPr>
          <a:xfrm>
            <a:off x="457200" y="338328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Trening / Val / Test grane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2834640" y="338328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8 976 / 263 / 527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Shape 22"/>
          <p:cNvSpPr/>
          <p:nvPr/>
        </p:nvSpPr>
        <p:spPr>
          <a:xfrm>
            <a:off x="4754880" y="777240"/>
            <a:ext cx="4114080" cy="3108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Shape 23"/>
          <p:cNvSpPr/>
          <p:nvPr/>
        </p:nvSpPr>
        <p:spPr>
          <a:xfrm>
            <a:off x="4754880" y="777240"/>
            <a:ext cx="4114080" cy="566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24"/>
          <p:cNvSpPr/>
          <p:nvPr/>
        </p:nvSpPr>
        <p:spPr>
          <a:xfrm>
            <a:off x="4892040" y="82296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CiteSeer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4892040" y="1097280"/>
            <a:ext cx="3839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Mreža računarskih nauka — 6 klasa tema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5" name="Shape 26"/>
          <p:cNvSpPr/>
          <p:nvPr/>
        </p:nvSpPr>
        <p:spPr>
          <a:xfrm>
            <a:off x="4846320" y="1435680"/>
            <a:ext cx="3931200" cy="4381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27"/>
          <p:cNvSpPr/>
          <p:nvPr/>
        </p:nvSpPr>
        <p:spPr>
          <a:xfrm>
            <a:off x="4937760" y="148140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Čvorovi (radovi)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Text 28"/>
          <p:cNvSpPr/>
          <p:nvPr/>
        </p:nvSpPr>
        <p:spPr>
          <a:xfrm>
            <a:off x="7315200" y="148140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3 327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8" name="Shape 29"/>
          <p:cNvSpPr/>
          <p:nvPr/>
        </p:nvSpPr>
        <p:spPr>
          <a:xfrm>
            <a:off x="4846320" y="1911240"/>
            <a:ext cx="3931200" cy="438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30"/>
          <p:cNvSpPr/>
          <p:nvPr/>
        </p:nvSpPr>
        <p:spPr>
          <a:xfrm>
            <a:off x="4937760" y="195696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Grane (citati)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" name="Text 31"/>
          <p:cNvSpPr/>
          <p:nvPr/>
        </p:nvSpPr>
        <p:spPr>
          <a:xfrm>
            <a:off x="7315200" y="19569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9 104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1" name="Shape 32"/>
          <p:cNvSpPr/>
          <p:nvPr/>
        </p:nvSpPr>
        <p:spPr>
          <a:xfrm>
            <a:off x="4846320" y="2386440"/>
            <a:ext cx="3931200" cy="4381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33"/>
          <p:cNvSpPr/>
          <p:nvPr/>
        </p:nvSpPr>
        <p:spPr>
          <a:xfrm>
            <a:off x="4937760" y="243216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Feature vektor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3" name="Text 34"/>
          <p:cNvSpPr/>
          <p:nvPr/>
        </p:nvSpPr>
        <p:spPr>
          <a:xfrm>
            <a:off x="7315200" y="243216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3 703 dim.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Shape 35"/>
          <p:cNvSpPr/>
          <p:nvPr/>
        </p:nvSpPr>
        <p:spPr>
          <a:xfrm>
            <a:off x="4846320" y="2862000"/>
            <a:ext cx="3931200" cy="438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36"/>
          <p:cNvSpPr/>
          <p:nvPr/>
        </p:nvSpPr>
        <p:spPr>
          <a:xfrm>
            <a:off x="4937760" y="290772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Prosečan stepen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6" name="Text 37"/>
          <p:cNvSpPr/>
          <p:nvPr/>
        </p:nvSpPr>
        <p:spPr>
          <a:xfrm>
            <a:off x="7315200" y="290772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2.74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Shape 38"/>
          <p:cNvSpPr/>
          <p:nvPr/>
        </p:nvSpPr>
        <p:spPr>
          <a:xfrm>
            <a:off x="4846320" y="3337560"/>
            <a:ext cx="3931200" cy="438120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39"/>
          <p:cNvSpPr/>
          <p:nvPr/>
        </p:nvSpPr>
        <p:spPr>
          <a:xfrm>
            <a:off x="4937760" y="3383280"/>
            <a:ext cx="2376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Trening / Val / Test grane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9" name="Text 40"/>
          <p:cNvSpPr/>
          <p:nvPr/>
        </p:nvSpPr>
        <p:spPr>
          <a:xfrm>
            <a:off x="7315200" y="3383280"/>
            <a:ext cx="1370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a1628"/>
                </a:solidFill>
                <a:latin typeface="Calibri"/>
                <a:ea typeface="Calibri"/>
              </a:rPr>
              <a:t>7 740 / 227 / 455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Shape 41"/>
          <p:cNvSpPr/>
          <p:nvPr/>
        </p:nvSpPr>
        <p:spPr>
          <a:xfrm>
            <a:off x="274320" y="4005000"/>
            <a:ext cx="8594640" cy="8222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Text 42"/>
          <p:cNvSpPr/>
          <p:nvPr/>
        </p:nvSpPr>
        <p:spPr>
          <a:xfrm>
            <a:off x="457200" y="400500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Predobrada: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NormalizeFeatures (L1 normalizacija feature vektora)  ·  Podela grana: 85% trening / 5% validacija / 10% test  ·  Balansiran evaluacioni skup: jednak broj pozitivnih i negativnih primera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1"/>
          <p:cNvSpPr/>
          <p:nvPr/>
        </p:nvSpPr>
        <p:spPr>
          <a:xfrm>
            <a:off x="365760" y="0"/>
            <a:ext cx="73144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Implementacija modela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7772400" y="0"/>
            <a:ext cx="1188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Glava 4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228600" y="777240"/>
            <a:ext cx="4114080" cy="2102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Shape 4"/>
          <p:cNvSpPr/>
          <p:nvPr/>
        </p:nvSpPr>
        <p:spPr>
          <a:xfrm>
            <a:off x="228600" y="777240"/>
            <a:ext cx="4114080" cy="63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5"/>
          <p:cNvSpPr/>
          <p:nvPr/>
        </p:nvSpPr>
        <p:spPr>
          <a:xfrm>
            <a:off x="365760" y="8413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c7293"/>
                </a:solidFill>
                <a:latin typeface="Calibri"/>
                <a:ea typeface="Calibri"/>
              </a:rPr>
              <a:t>GAE — Graph Autoencoder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365760" y="123444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GCNConv(1433→64) → ReLU → GCNConv(64→32) → Dekoder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365760" y="1572840"/>
            <a:ext cx="37483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Dekoder: score(i,j) = zᵢᵀ · zⱼ  (skalarni proizvod)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Gubitak: BCEWithLogitsLoss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Trening: 200 epoha, Adam lr=0.01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4800600" y="777240"/>
            <a:ext cx="4114080" cy="2102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Shape 9"/>
          <p:cNvSpPr/>
          <p:nvPr/>
        </p:nvSpPr>
        <p:spPr>
          <a:xfrm>
            <a:off x="4800600" y="777240"/>
            <a:ext cx="4114080" cy="63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0"/>
          <p:cNvSpPr/>
          <p:nvPr/>
        </p:nvSpPr>
        <p:spPr>
          <a:xfrm>
            <a:off x="4937760" y="841320"/>
            <a:ext cx="3839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28090"/>
                </a:solidFill>
                <a:latin typeface="Calibri"/>
                <a:ea typeface="Calibri"/>
              </a:rPr>
              <a:t>VGAE — Variational Graph Autoencoder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4937760" y="123444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5a82"/>
                </a:solidFill>
                <a:latin typeface="Consolas"/>
                <a:ea typeface="Consolas"/>
              </a:rPr>
              <a:t>GCNConv(1433→64) → [conv_μ(64,32) ‖ conv_logσ(64,32)]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4937760" y="1572840"/>
            <a:ext cx="374832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Reparametrizacijski trik: z = μ + ε · exp(logσ)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Gubitak: L = L_BCE + 0.005 · D_KL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Trening: 300 epoha, Adam lr=0.01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228600" y="2999160"/>
            <a:ext cx="2102400" cy="9594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Text 14"/>
          <p:cNvSpPr/>
          <p:nvPr/>
        </p:nvSpPr>
        <p:spPr>
          <a:xfrm>
            <a:off x="320040" y="303588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c7293"/>
                </a:solidFill>
                <a:latin typeface="Calibri"/>
                <a:ea typeface="Calibri"/>
              </a:rPr>
              <a:t>Optimizator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320040" y="329184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Adam (lr = 0.01)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2468880" y="2999160"/>
            <a:ext cx="2102400" cy="9594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Text 17"/>
          <p:cNvSpPr/>
          <p:nvPr/>
        </p:nvSpPr>
        <p:spPr>
          <a:xfrm>
            <a:off x="2560320" y="303588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c7293"/>
                </a:solidFill>
                <a:latin typeface="Calibri"/>
                <a:ea typeface="Calibri"/>
              </a:rPr>
              <a:t>Early stopping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2560320" y="329184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Sačuvan model sa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najboljim val. AUC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1" name="Shape 19"/>
          <p:cNvSpPr/>
          <p:nvPr/>
        </p:nvSpPr>
        <p:spPr>
          <a:xfrm>
            <a:off x="4709160" y="2999160"/>
            <a:ext cx="2102400" cy="9594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Text 20"/>
          <p:cNvSpPr/>
          <p:nvPr/>
        </p:nvSpPr>
        <p:spPr>
          <a:xfrm>
            <a:off x="4800600" y="303588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c7293"/>
                </a:solidFill>
                <a:latin typeface="Calibri"/>
                <a:ea typeface="Calibri"/>
              </a:rPr>
              <a:t>Neg. uzorkovanje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3" name="Text 21"/>
          <p:cNvSpPr/>
          <p:nvPr/>
        </p:nvSpPr>
        <p:spPr>
          <a:xfrm>
            <a:off x="4800600" y="329184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1:1 pozitivnih i</a:t>
            </a:r>
            <a:endParaRPr b="0" lang="en-US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negativnih primera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Shape 22"/>
          <p:cNvSpPr/>
          <p:nvPr/>
        </p:nvSpPr>
        <p:spPr>
          <a:xfrm>
            <a:off x="6949440" y="2999160"/>
            <a:ext cx="2102400" cy="95940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Text 23"/>
          <p:cNvSpPr/>
          <p:nvPr/>
        </p:nvSpPr>
        <p:spPr>
          <a:xfrm>
            <a:off x="7040880" y="3035880"/>
            <a:ext cx="1919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c7293"/>
                </a:solidFill>
                <a:latin typeface="Calibri"/>
                <a:ea typeface="Calibri"/>
              </a:rPr>
              <a:t>Aktivaciona funkcija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7040880" y="329184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  <a:ea typeface="Calibri"/>
              </a:rPr>
              <a:t>RELU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228600" y="4069080"/>
            <a:ext cx="8686080" cy="776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Text 26"/>
          <p:cNvSpPr/>
          <p:nvPr/>
        </p:nvSpPr>
        <p:spPr>
          <a:xfrm>
            <a:off x="411480" y="4069080"/>
            <a:ext cx="84117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2c39a"/>
                </a:solidFill>
                <a:latin typeface="Calibri"/>
                <a:ea typeface="Calibri"/>
              </a:rPr>
              <a:t>Evaluacione metrike:  </a:t>
            </a:r>
            <a:r>
              <a:rPr b="0" lang="en-US" sz="1200" spc="-1" strike="noStrike">
                <a:solidFill>
                  <a:srgbClr val="cadcfc"/>
                </a:solidFill>
                <a:latin typeface="Calibri"/>
                <a:ea typeface="Calibri"/>
              </a:rPr>
              <a:t>AUC (Area Under ROC Curve) — razlikovanje pozitivnih od negativnih primera  ·  AP (Average Precision) — površina ispod precision-recall krive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"/>
          <p:cNvSpPr/>
          <p:nvPr/>
        </p:nvSpPr>
        <p:spPr>
          <a:xfrm>
            <a:off x="365760" y="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Eksperimenti i rezultati — Poređenje modela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7955280" y="0"/>
            <a:ext cx="1005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Glava 5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274320" y="68580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a1628"/>
                </a:solidFill>
                <a:latin typeface="Calibri"/>
                <a:ea typeface="Calibri"/>
              </a:rPr>
              <a:t>Sveobuhvatno poređenje svih modela</a:t>
            </a:r>
            <a:endParaRPr b="0" lang="en-US" sz="1300" spc="-1" strike="noStrike">
              <a:latin typeface="Arial"/>
            </a:endParaRPr>
          </a:p>
        </p:txBody>
      </p:sp>
      <p:graphicFrame>
        <p:nvGraphicFramePr>
          <p:cNvPr id="153" name="Table 0"/>
          <p:cNvGraphicFramePr/>
          <p:nvPr/>
        </p:nvGraphicFramePr>
        <p:xfrm>
          <a:off x="274320" y="1051560"/>
          <a:ext cx="5028840" cy="164556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4114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Model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Cora AUC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Cora AP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CiteSeer AUC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CiteSeer AP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</a:rPr>
                        <a:t>GAE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</a:rPr>
                        <a:t>0.8964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0.9036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0.8824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0.8860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VGAE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0.8894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0.8970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0.8986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</a:rPr>
                        <a:t>0.8976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Common Neighbors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0.6930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0.6891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0.6714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</a:rPr>
                        <a:t>0.6714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e2e8f0"/>
                      </a:solidFill>
                    </a:lnL>
                    <a:lnR w="6480">
                      <a:solidFill>
                        <a:srgbClr val="e2e8f0"/>
                      </a:solidFill>
                    </a:lnR>
                    <a:lnT w="6480">
                      <a:solidFill>
                        <a:srgbClr val="e2e8f0"/>
                      </a:solidFill>
                    </a:lnT>
                    <a:lnB w="6480">
                      <a:solidFill>
                        <a:srgbClr val="e2e8f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4" name="Chart 0"/>
          <p:cNvGraphicFramePr/>
          <p:nvPr/>
        </p:nvGraphicFramePr>
        <p:xfrm>
          <a:off x="5394960" y="658440"/>
          <a:ext cx="3519720" cy="2742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5" name="Shape 4"/>
          <p:cNvSpPr/>
          <p:nvPr/>
        </p:nvSpPr>
        <p:spPr>
          <a:xfrm>
            <a:off x="274320" y="2971800"/>
            <a:ext cx="5028480" cy="178236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6" name="Text 5"/>
          <p:cNvSpPr/>
          <p:nvPr/>
        </p:nvSpPr>
        <p:spPr>
          <a:xfrm>
            <a:off x="457200" y="30175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a1628"/>
                </a:solidFill>
                <a:latin typeface="Calibri"/>
                <a:ea typeface="Calibri"/>
              </a:rPr>
              <a:t>Ključni zaključci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457200" y="3364920"/>
            <a:ext cx="466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▲  </a:t>
            </a:r>
            <a:r>
              <a:rPr b="0" lang="en-US" sz="1100" spc="-1" strike="noStrike">
                <a:solidFill>
                  <a:srgbClr val="1c7293"/>
                </a:solidFill>
                <a:latin typeface="Calibri"/>
                <a:ea typeface="Calibri"/>
              </a:rPr>
              <a:t>GNN modeli nadmašuju baseline za 20+ procentnih poena AUC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457200" y="3785760"/>
            <a:ext cx="466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★  </a:t>
            </a:r>
            <a:r>
              <a:rPr b="0" lang="en-US" sz="1100" spc="-1" strike="noStrike">
                <a:solidFill>
                  <a:srgbClr val="028090"/>
                </a:solidFill>
                <a:latin typeface="Calibri"/>
                <a:ea typeface="Calibri"/>
              </a:rPr>
              <a:t>VGAE bolje radi na sređenom CiteSeer grafu (prosečan stepen 2.74)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457200" y="4206240"/>
            <a:ext cx="466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●  </a:t>
            </a: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GAE brže konvergira (~100 ep.) vs VGAE (~190 ep.)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"/>
          <p:cNvSpPr/>
          <p:nvPr/>
        </p:nvSpPr>
        <p:spPr>
          <a:xfrm>
            <a:off x="365760" y="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Eksperimenti sa hiperparametrima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7772400" y="0"/>
            <a:ext cx="1188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Glava 5.1</a:t>
            </a:r>
            <a:endParaRPr b="0" lang="en-US" sz="1100" spc="-1" strike="noStrike">
              <a:latin typeface="Arial"/>
            </a:endParaRPr>
          </a:p>
        </p:txBody>
      </p:sp>
      <p:graphicFrame>
        <p:nvGraphicFramePr>
          <p:cNvPr id="163" name="Chart 0"/>
          <p:cNvGraphicFramePr/>
          <p:nvPr/>
        </p:nvGraphicFramePr>
        <p:xfrm>
          <a:off x="274320" y="685800"/>
          <a:ext cx="4114080" cy="292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4" name="Chart 1"/>
          <p:cNvGraphicFramePr/>
          <p:nvPr/>
        </p:nvGraphicFramePr>
        <p:xfrm>
          <a:off x="4754880" y="685800"/>
          <a:ext cx="4114080" cy="292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5" name="Shape 3"/>
          <p:cNvSpPr/>
          <p:nvPr/>
        </p:nvSpPr>
        <p:spPr>
          <a:xfrm>
            <a:off x="274320" y="3749040"/>
            <a:ext cx="8594640" cy="1096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 4"/>
          <p:cNvSpPr/>
          <p:nvPr/>
        </p:nvSpPr>
        <p:spPr>
          <a:xfrm>
            <a:off x="548640" y="382212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c39a"/>
                </a:solidFill>
                <a:latin typeface="Calibri"/>
                <a:ea typeface="Calibri"/>
              </a:rPr>
              <a:t>h=128, o=64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548640" y="4206240"/>
            <a:ext cx="25596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Najbolja konfiguracija za oba modela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3383280" y="382212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c39a"/>
                </a:solidFill>
                <a:latin typeface="Calibri"/>
                <a:ea typeface="Calibri"/>
              </a:rPr>
              <a:t>lr = 0.01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3383280" y="4206240"/>
            <a:ext cx="25596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Optimalna stopa učenja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6217920" y="3822120"/>
            <a:ext cx="2559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c39a"/>
                </a:solidFill>
                <a:latin typeface="Calibri"/>
                <a:ea typeface="Calibri"/>
              </a:rPr>
              <a:t>VGAE pad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6217920" y="4206240"/>
            <a:ext cx="25596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lr=0.001 → AUC pada na 0.657 (VGAE)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280" cy="593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"/>
          <p:cNvSpPr/>
          <p:nvPr/>
        </p:nvSpPr>
        <p:spPr>
          <a:xfrm>
            <a:off x="365760" y="0"/>
            <a:ext cx="77716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Vizualizacija embeddinga i analiza grešaka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7132320" y="0"/>
            <a:ext cx="1828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Glave 5.6 &amp; 5.8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274320" y="731520"/>
            <a:ext cx="4205520" cy="3199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Shape 4"/>
          <p:cNvSpPr/>
          <p:nvPr/>
        </p:nvSpPr>
        <p:spPr>
          <a:xfrm>
            <a:off x="274320" y="731520"/>
            <a:ext cx="4205520" cy="63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5"/>
          <p:cNvSpPr/>
          <p:nvPr/>
        </p:nvSpPr>
        <p:spPr>
          <a:xfrm>
            <a:off x="411480" y="79560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c7293"/>
                </a:solidFill>
                <a:latin typeface="Calibri"/>
                <a:ea typeface="Calibri"/>
              </a:rPr>
              <a:t>t-SNE vizualizacija embeddinga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411480" y="118872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9"/>
          <p:cNvSpPr/>
          <p:nvPr/>
        </p:nvSpPr>
        <p:spPr>
          <a:xfrm>
            <a:off x="411480" y="23774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Shape 34"/>
          <p:cNvSpPr/>
          <p:nvPr/>
        </p:nvSpPr>
        <p:spPr>
          <a:xfrm>
            <a:off x="4663440" y="731520"/>
            <a:ext cx="4205520" cy="3199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Shape 35"/>
          <p:cNvSpPr/>
          <p:nvPr/>
        </p:nvSpPr>
        <p:spPr>
          <a:xfrm>
            <a:off x="4663440" y="731520"/>
            <a:ext cx="4205520" cy="63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36"/>
          <p:cNvSpPr/>
          <p:nvPr/>
        </p:nvSpPr>
        <p:spPr>
          <a:xfrm>
            <a:off x="4800600" y="795600"/>
            <a:ext cx="3931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b91c1c"/>
                </a:solidFill>
                <a:latin typeface="Calibri"/>
                <a:ea typeface="Calibri"/>
              </a:rPr>
              <a:t>Analiza grešaka — Common Neighbors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83" name="Shape 37"/>
          <p:cNvSpPr/>
          <p:nvPr/>
        </p:nvSpPr>
        <p:spPr>
          <a:xfrm>
            <a:off x="4800600" y="1280160"/>
            <a:ext cx="3931200" cy="11880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Text 38"/>
          <p:cNvSpPr/>
          <p:nvPr/>
        </p:nvSpPr>
        <p:spPr>
          <a:xfrm>
            <a:off x="4919400" y="13348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b91c1c"/>
                </a:solidFill>
                <a:latin typeface="Calibri"/>
                <a:ea typeface="Calibri"/>
              </a:rPr>
              <a:t>Lažno pozitivni (FP)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5" name="Text 39"/>
          <p:cNvSpPr/>
          <p:nvPr/>
        </p:nvSpPr>
        <p:spPr>
          <a:xfrm>
            <a:off x="4919400" y="1627560"/>
            <a:ext cx="3656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Čvorovi dele zajedničke susede ali NISU direktno povezani.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Primer: par (137, 2144) sa CN=3 — 3 zajednička suseda, ali veza ne postoji.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6" name="Shape 40"/>
          <p:cNvSpPr/>
          <p:nvPr/>
        </p:nvSpPr>
        <p:spPr>
          <a:xfrm>
            <a:off x="4800600" y="2651760"/>
            <a:ext cx="3931200" cy="118800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Text 41"/>
          <p:cNvSpPr/>
          <p:nvPr/>
        </p:nvSpPr>
        <p:spPr>
          <a:xfrm>
            <a:off x="4919400" y="270648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c2410c"/>
                </a:solidFill>
                <a:latin typeface="Calibri"/>
                <a:ea typeface="Calibri"/>
              </a:rPr>
              <a:t>Lažni negativi (FN)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8" name="Text 42"/>
          <p:cNvSpPr/>
          <p:nvPr/>
        </p:nvSpPr>
        <p:spPr>
          <a:xfrm>
            <a:off x="4919400" y="2999160"/>
            <a:ext cx="3656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Stvarne veze između čvorova bez zajedničkih suseda (CN=0).</a:t>
            </a: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Calibri"/>
              </a:rPr>
              <a:t>Fundamentalno ograničenje: CN ne vidi veze između topološki udaljenih, semantički srodnih čvorova.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9" name="Shape 43"/>
          <p:cNvSpPr/>
          <p:nvPr/>
        </p:nvSpPr>
        <p:spPr>
          <a:xfrm>
            <a:off x="4800600" y="3749040"/>
            <a:ext cx="3931200" cy="4748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44"/>
          <p:cNvSpPr/>
          <p:nvPr/>
        </p:nvSpPr>
        <p:spPr>
          <a:xfrm>
            <a:off x="4919400" y="3749040"/>
            <a:ext cx="374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65a82"/>
                </a:solidFill>
                <a:latin typeface="Calibri"/>
                <a:ea typeface="Calibri"/>
              </a:rPr>
              <a:t>GNN modeli prevazilaze ova ograničenja kroz multi-hop propagaciju informacija (2-hop susedstvo).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91" name="" descr=""/>
          <p:cNvPicPr/>
          <p:nvPr/>
        </p:nvPicPr>
        <p:blipFill>
          <a:blip r:embed="rId1"/>
          <a:stretch/>
        </p:blipFill>
        <p:spPr>
          <a:xfrm>
            <a:off x="411480" y="1314360"/>
            <a:ext cx="1874160" cy="1405800"/>
          </a:xfrm>
          <a:prstGeom prst="rect">
            <a:avLst/>
          </a:prstGeom>
          <a:ln w="0">
            <a:noFill/>
          </a:ln>
        </p:spPr>
      </p:pic>
      <p:pic>
        <p:nvPicPr>
          <p:cNvPr id="192" name="" descr=""/>
          <p:cNvPicPr/>
          <p:nvPr/>
        </p:nvPicPr>
        <p:blipFill>
          <a:blip r:embed="rId2"/>
          <a:stretch/>
        </p:blipFill>
        <p:spPr>
          <a:xfrm>
            <a:off x="2454120" y="2377440"/>
            <a:ext cx="1888920" cy="141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5943600" y="-914400"/>
            <a:ext cx="5485680" cy="5485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Shape 1"/>
          <p:cNvSpPr/>
          <p:nvPr/>
        </p:nvSpPr>
        <p:spPr>
          <a:xfrm>
            <a:off x="-914400" y="2743200"/>
            <a:ext cx="3656880" cy="365688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"/>
          <p:cNvSpPr/>
          <p:nvPr/>
        </p:nvSpPr>
        <p:spPr>
          <a:xfrm>
            <a:off x="548640" y="274320"/>
            <a:ext cx="4571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Zaključak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548640" y="1005840"/>
            <a:ext cx="1919520" cy="1005120"/>
          </a:xfrm>
          <a:prstGeom prst="rect">
            <a:avLst/>
          </a:prstGeom>
          <a:solidFill>
            <a:srgbClr val="0d2240"/>
          </a:solidFill>
          <a:ln w="635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Text 4"/>
          <p:cNvSpPr/>
          <p:nvPr/>
        </p:nvSpPr>
        <p:spPr>
          <a:xfrm>
            <a:off x="548640" y="1051560"/>
            <a:ext cx="1919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~0.89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548640" y="1536120"/>
            <a:ext cx="191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ecfd8"/>
                </a:solidFill>
                <a:latin typeface="Calibri"/>
                <a:ea typeface="Calibri"/>
              </a:rPr>
              <a:t>AUC (GAE &amp; VGAE)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2697480" y="1005840"/>
            <a:ext cx="1919520" cy="1005120"/>
          </a:xfrm>
          <a:prstGeom prst="rect">
            <a:avLst/>
          </a:prstGeom>
          <a:solidFill>
            <a:srgbClr val="0d2240"/>
          </a:solidFill>
          <a:ln w="635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0" name="Text 7"/>
          <p:cNvSpPr/>
          <p:nvPr/>
        </p:nvSpPr>
        <p:spPr>
          <a:xfrm>
            <a:off x="2697480" y="1051560"/>
            <a:ext cx="1919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+20pp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2697480" y="1536120"/>
            <a:ext cx="191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ecfd8"/>
                </a:solidFill>
                <a:latin typeface="Calibri"/>
                <a:ea typeface="Calibri"/>
              </a:rPr>
              <a:t>vs. Common Neighbors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4846320" y="1005840"/>
            <a:ext cx="1919520" cy="1005120"/>
          </a:xfrm>
          <a:prstGeom prst="rect">
            <a:avLst/>
          </a:prstGeom>
          <a:solidFill>
            <a:srgbClr val="0d2240"/>
          </a:solidFill>
          <a:ln w="635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3" name="Text 10"/>
          <p:cNvSpPr/>
          <p:nvPr/>
        </p:nvSpPr>
        <p:spPr>
          <a:xfrm>
            <a:off x="4846320" y="1051560"/>
            <a:ext cx="1919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h=128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4846320" y="1536120"/>
            <a:ext cx="191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ecfd8"/>
                </a:solidFill>
                <a:latin typeface="Calibri"/>
                <a:ea typeface="Calibri"/>
              </a:rPr>
              <a:t>Optimalna konfiguracija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5" name="Shape 12"/>
          <p:cNvSpPr/>
          <p:nvPr/>
        </p:nvSpPr>
        <p:spPr>
          <a:xfrm>
            <a:off x="6995160" y="1005840"/>
            <a:ext cx="1919520" cy="1005120"/>
          </a:xfrm>
          <a:prstGeom prst="rect">
            <a:avLst/>
          </a:prstGeom>
          <a:solidFill>
            <a:srgbClr val="0d2240"/>
          </a:solidFill>
          <a:ln w="635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6" name="Text 13"/>
          <p:cNvSpPr/>
          <p:nvPr/>
        </p:nvSpPr>
        <p:spPr>
          <a:xfrm>
            <a:off x="6995160" y="1051560"/>
            <a:ext cx="19195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02c39a"/>
                </a:solidFill>
                <a:latin typeface="Calibri"/>
                <a:ea typeface="Calibri"/>
              </a:rPr>
              <a:t>t-SNE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6995160" y="1536120"/>
            <a:ext cx="19195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aecfd8"/>
                </a:solidFill>
                <a:latin typeface="Calibri"/>
                <a:ea typeface="Calibri"/>
              </a:rPr>
              <a:t>Potvrda klasterske strukture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48640" y="2148840"/>
            <a:ext cx="804600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GAE: AUC 0.8964 (Cora) | 0.8824 (CiteSeer) — brza, monotona konvergencija</a:t>
            </a:r>
            <a:endParaRPr b="0" lang="en-US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VGAE: AUC 0.8894 (Cora) | 0.8986 (CiteSeer) — probabilistička regularizacija koristi na CiteSeer</a:t>
            </a:r>
            <a:endParaRPr b="0" lang="en-US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Common Neighbors: AUC 0.6930 / 0.6714 — ne vidi semantički srodne, topološki udaljene čvorove</a:t>
            </a:r>
            <a:endParaRPr b="0" lang="en-US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cbd5e1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Veće dimenzije embeddinga (h=128, o=64) konzistentno daju bolje rezultate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9" name="Shape 16"/>
          <p:cNvSpPr/>
          <p:nvPr/>
        </p:nvSpPr>
        <p:spPr>
          <a:xfrm>
            <a:off x="548640" y="3931920"/>
            <a:ext cx="8046000" cy="867960"/>
          </a:xfrm>
          <a:prstGeom prst="rect">
            <a:avLst/>
          </a:prstGeom>
          <a:solidFill>
            <a:srgbClr val="0d2240"/>
          </a:solidFill>
          <a:ln w="6350">
            <a:solidFill>
              <a:srgbClr val="1c7293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0" name="Text 17"/>
          <p:cNvSpPr/>
          <p:nvPr/>
        </p:nvSpPr>
        <p:spPr>
          <a:xfrm>
            <a:off x="731520" y="3931920"/>
            <a:ext cx="7771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2026-05-18T09:10:11Z</dcterms:created>
  <dc:creator>PptxGenJS</dc:creator>
  <dc:description/>
  <dc:language>en-US</dc:language>
  <cp:lastModifiedBy/>
  <dcterms:modified xsi:type="dcterms:W3CDTF">2026-05-18T16:01:48Z</dcterms:modified>
  <cp:revision>3</cp:revision>
  <dc:subject>PptxGenJS Presentation</dc:subject>
  <dc:title>GNN za predikciju veza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